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7" r:id="rId7"/>
    <p:sldId id="261" r:id="rId8"/>
    <p:sldId id="269" r:id="rId9"/>
    <p:sldId id="262" r:id="rId10"/>
    <p:sldId id="268" r:id="rId11"/>
    <p:sldId id="263" r:id="rId12"/>
    <p:sldId id="264" r:id="rId13"/>
    <p:sldId id="265" r:id="rId14"/>
    <p:sldId id="266"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varScale="1">
        <p:scale>
          <a:sx n="69" d="100"/>
          <a:sy n="69" d="100"/>
        </p:scale>
        <p:origin x="48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F7B8645-5744-4004-A3F3-9071D459397F}" type="datetimeFigureOut">
              <a:rPr lang="fr-FR" smtClean="0"/>
              <a:t>15/06/2026</a:t>
            </a:fld>
            <a:endParaRPr lang="fr-FR"/>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fr-F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73086716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F7B8645-5744-4004-A3F3-9071D459397F}"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2088498039"/>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5F7B8645-5744-4004-A3F3-9071D459397F}"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102480188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5F7B8645-5744-4004-A3F3-9071D459397F}" type="datetimeFigureOut">
              <a:rPr lang="fr-FR" smtClean="0"/>
              <a:t>15/06/2026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180737780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5F7B8645-5744-4004-A3F3-9071D459397F}" type="datetimeFigureOut">
              <a:rPr lang="fr-FR" smtClean="0"/>
              <a:t>15/06/2026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4203050701"/>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5F7B8645-5744-4004-A3F3-9071D459397F}" type="datetimeFigureOut">
              <a:rPr lang="fr-FR" smtClean="0"/>
              <a:t>15/06/2026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3653504103"/>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7B8645-5744-4004-A3F3-9071D459397F}" type="datetimeFigureOut">
              <a:rPr lang="fr-FR" smtClean="0"/>
              <a:t>15/06/2026</a:t>
            </a:fld>
            <a:endParaRPr lang="fr-FR"/>
          </a:p>
        </p:txBody>
      </p:sp>
      <p:sp>
        <p:nvSpPr>
          <p:cNvPr id="3" name="Footer Placeholder 2"/>
          <p:cNvSpPr>
            <a:spLocks noGrp="1"/>
          </p:cNvSpPr>
          <p:nvPr>
            <p:ph type="ftr" sz="quarter" idx="11"/>
          </p:nvPr>
        </p:nvSpPr>
        <p:spPr/>
        <p:txBody>
          <a:bodyPr/>
          <a:lstStyle/>
          <a:p>
            <a:endParaRPr lang="fr-F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213745124"/>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fr-FR" smtClean="0"/>
              <a:t>Modifiez le style du titre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5F7B8645-5744-4004-A3F3-9071D459397F}" type="datetimeFigureOut">
              <a:rPr lang="fr-FR" smtClean="0"/>
              <a:t>15/06/2026</a:t>
            </a:fld>
            <a:endParaRPr lang="fr-FR"/>
          </a:p>
        </p:txBody>
      </p:sp>
      <p:sp>
        <p:nvSpPr>
          <p:cNvPr id="6" name="Footer Placeholder 5"/>
          <p:cNvSpPr>
            <a:spLocks noGrp="1"/>
          </p:cNvSpPr>
          <p:nvPr>
            <p:ph type="ftr" sz="quarter" idx="11"/>
          </p:nvPr>
        </p:nvSpPr>
        <p:spPr/>
        <p:txBody>
          <a:bodyPr/>
          <a:lstStyle/>
          <a:p>
            <a:endParaRPr lang="fr-F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1750447238"/>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fr-FR" smtClean="0"/>
              <a:t>Cliquez sur l'icône pour ajouter une image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5F7B8645-5744-4004-A3F3-9071D459397F}" type="datetimeFigureOut">
              <a:rPr lang="fr-FR" smtClean="0"/>
              <a:t>15/06/2026</a:t>
            </a:fld>
            <a:endParaRPr lang="fr-FR"/>
          </a:p>
        </p:txBody>
      </p:sp>
      <p:sp>
        <p:nvSpPr>
          <p:cNvPr id="6" name="Footer Placeholder 5"/>
          <p:cNvSpPr>
            <a:spLocks noGrp="1"/>
          </p:cNvSpPr>
          <p:nvPr>
            <p:ph type="ftr" sz="quarter" idx="11"/>
          </p:nvPr>
        </p:nvSpPr>
        <p:spPr/>
        <p:txBody>
          <a:bodyPr/>
          <a:lstStyle/>
          <a:p>
            <a:endParaRPr lang="fr-F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1925185883"/>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5F7B8645-5744-4004-A3F3-9071D459397F}" type="datetimeFigureOut">
              <a:rPr lang="fr-FR" smtClean="0"/>
              <a:t>15/06/2026</a:t>
            </a:fld>
            <a:endParaRPr lang="fr-FR"/>
          </a:p>
        </p:txBody>
      </p:sp>
      <p:sp>
        <p:nvSpPr>
          <p:cNvPr id="6" name="Footer Placeholder 5"/>
          <p:cNvSpPr>
            <a:spLocks noGrp="1"/>
          </p:cNvSpPr>
          <p:nvPr>
            <p:ph type="ftr" sz="quarter" idx="11"/>
          </p:nvPr>
        </p:nvSpPr>
        <p:spPr/>
        <p:txBody>
          <a:bodyPr/>
          <a:lstStyle/>
          <a:p>
            <a:endParaRPr lang="fr-F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186388384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fr-FR" smtClean="0"/>
              <a:t>Modifiez le style du titre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5F7B8645-5744-4004-A3F3-9071D459397F}"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258739104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fr-FR" smtClean="0"/>
              <a:t>Modifiez le style du titre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5F7B8645-5744-4004-A3F3-9071D459397F}"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3209600525"/>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5F7B8645-5744-4004-A3F3-9071D459397F}"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3192597543"/>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smtClean="0"/>
              <a:t>Modifiez le style du titre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F7B8645-5744-4004-A3F3-9071D459397F}" type="datetimeFigureOut">
              <a:rPr lang="fr-FR" smtClean="0"/>
              <a:t>15/06/2026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921939248"/>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smtClean="0"/>
              <a:t>Modifiez le style du titre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F7B8645-5744-4004-A3F3-9071D459397F}" type="datetimeFigureOut">
              <a:rPr lang="fr-FR" smtClean="0"/>
              <a:t>15/06/2026</a:t>
            </a:fld>
            <a:endParaRPr lang="fr-FR"/>
          </a:p>
        </p:txBody>
      </p:sp>
      <p:sp>
        <p:nvSpPr>
          <p:cNvPr id="8" name="Footer Placeholder 7"/>
          <p:cNvSpPr>
            <a:spLocks noGrp="1"/>
          </p:cNvSpPr>
          <p:nvPr>
            <p:ph type="ftr" sz="quarter" idx="11"/>
          </p:nvPr>
        </p:nvSpPr>
        <p:spPr>
          <a:xfrm>
            <a:off x="561111" y="6391838"/>
            <a:ext cx="3644282" cy="304801"/>
          </a:xfrm>
        </p:spPr>
        <p:txBody>
          <a:bodyPr/>
          <a:lstStyle/>
          <a:p>
            <a:endParaRPr lang="fr-FR"/>
          </a:p>
        </p:txBody>
      </p:sp>
      <p:sp>
        <p:nvSpPr>
          <p:cNvPr id="9" name="Slide Number Placeholder 8"/>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2664781408"/>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F7B8645-5744-4004-A3F3-9071D459397F}"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3057792023"/>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fr-FR" smtClean="0"/>
              <a:t>Modifiez le style du titre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F7B8645-5744-4004-A3F3-9071D459397F}" type="datetimeFigureOut">
              <a:rPr lang="fr-FR" smtClean="0"/>
              <a:t>15/06/2026</a:t>
            </a:fld>
            <a:endParaRPr lang="fr-FR"/>
          </a:p>
        </p:txBody>
      </p:sp>
      <p:sp>
        <p:nvSpPr>
          <p:cNvPr id="5" name="Footer Placeholder 4"/>
          <p:cNvSpPr>
            <a:spLocks noGrp="1"/>
          </p:cNvSpPr>
          <p:nvPr>
            <p:ph type="ftr" sz="quarter" idx="11"/>
          </p:nvPr>
        </p:nvSpPr>
        <p:spPr/>
        <p:txBody>
          <a:bodyPr/>
          <a:lstStyle/>
          <a:p>
            <a:endParaRPr lang="fr-F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A1EDD9C-8272-4A6D-A2A8-39AB09205A3E}" type="slidenum">
              <a:rPr lang="fr-FR" smtClean="0"/>
              <a:t>‹N°›</a:t>
            </a:fld>
            <a:endParaRPr lang="fr-FR"/>
          </a:p>
        </p:txBody>
      </p:sp>
    </p:spTree>
    <p:extLst>
      <p:ext uri="{BB962C8B-B14F-4D97-AF65-F5344CB8AC3E}">
        <p14:creationId xmlns:p14="http://schemas.microsoft.com/office/powerpoint/2010/main" val="293761641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fr-FR" smtClean="0"/>
              <a:t>Modifiez le style du titre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5F7B8645-5744-4004-A3F3-9071D459397F}" type="datetimeFigureOut">
              <a:rPr lang="fr-FR" smtClean="0"/>
              <a:t>15/06/2026</a:t>
            </a:fld>
            <a:endParaRPr lang="fr-FR"/>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fr-F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A1EDD9C-8272-4A6D-A2A8-39AB09205A3E}" type="slidenum">
              <a:rPr lang="fr-FR" smtClean="0"/>
              <a:t>‹N°›</a:t>
            </a:fld>
            <a:endParaRPr lang="fr-FR"/>
          </a:p>
        </p:txBody>
      </p:sp>
    </p:spTree>
    <p:extLst>
      <p:ext uri="{BB962C8B-B14F-4D97-AF65-F5344CB8AC3E}">
        <p14:creationId xmlns:p14="http://schemas.microsoft.com/office/powerpoint/2010/main" val="1150930593"/>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ndeyesokhnacisse212/cisse_ndeye_sokhna_AfriTalent/commits?author=ndeyesokhnacisse21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ndeyesokhnacisse212/cisse_ndeye_sokhna_AfriTalent/commits?author=ndeyesokhnacisse212"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sz="8000" b="1" i="1" dirty="0" err="1" smtClean="0">
                <a:latin typeface="Algerian" panose="04020705040A02060702" pitchFamily="82" charset="0"/>
              </a:rPr>
              <a:t>AfriTalent</a:t>
            </a:r>
            <a:endParaRPr lang="fr-FR" sz="8000" b="1" i="1" dirty="0">
              <a:latin typeface="Algerian" panose="04020705040A02060702" pitchFamily="82" charset="0"/>
            </a:endParaRPr>
          </a:p>
        </p:txBody>
      </p:sp>
      <p:sp>
        <p:nvSpPr>
          <p:cNvPr id="3" name="Sous-titre 2"/>
          <p:cNvSpPr>
            <a:spLocks noGrp="1"/>
          </p:cNvSpPr>
          <p:nvPr>
            <p:ph type="subTitle" idx="1"/>
          </p:nvPr>
        </p:nvSpPr>
        <p:spPr/>
        <p:txBody>
          <a:bodyPr>
            <a:normAutofit fontScale="25000" lnSpcReduction="20000"/>
          </a:bodyPr>
          <a:lstStyle/>
          <a:p>
            <a:pPr algn="l"/>
            <a:r>
              <a:rPr lang="fr-FR" sz="8000" b="1" i="1" dirty="0" smtClean="0">
                <a:effectLst>
                  <a:outerShdw blurRad="38100" dist="38100" dir="2700000" algn="tl">
                    <a:srgbClr val="000000">
                      <a:alpha val="43137"/>
                    </a:srgbClr>
                  </a:outerShdw>
                </a:effectLst>
                <a:latin typeface="Algerian" panose="04020705040A02060702" pitchFamily="82" charset="0"/>
              </a:rPr>
              <a:t>NDEYE SOKHNA CISSE</a:t>
            </a:r>
          </a:p>
          <a:p>
            <a:pPr algn="r"/>
            <a:r>
              <a:rPr lang="fr-FR" sz="5400" b="1" i="1" dirty="0" smtClean="0">
                <a:latin typeface="Algerian" panose="04020705040A02060702" pitchFamily="82" charset="0"/>
              </a:rPr>
              <a:t>IAGE L1</a:t>
            </a:r>
          </a:p>
          <a:p>
            <a:pPr lvl="8" algn="r">
              <a:lnSpc>
                <a:spcPct val="270000"/>
              </a:lnSpc>
            </a:pPr>
            <a:r>
              <a:rPr lang="fr-FR" sz="3100" b="1" dirty="0" smtClean="0">
                <a:latin typeface="Algerian" panose="04020705040A02060702" pitchFamily="82" charset="0"/>
              </a:rPr>
              <a:t>17/06/2026</a:t>
            </a:r>
            <a:endParaRPr lang="fr-FR" sz="3100" b="1" dirty="0">
              <a:latin typeface="Algerian" panose="04020705040A02060702" pitchFamily="82" charset="0"/>
            </a:endParaRPr>
          </a:p>
        </p:txBody>
      </p:sp>
    </p:spTree>
    <p:extLst>
      <p:ext uri="{BB962C8B-B14F-4D97-AF65-F5344CB8AC3E}">
        <p14:creationId xmlns:p14="http://schemas.microsoft.com/office/powerpoint/2010/main" val="423488377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7200" dirty="0" smtClean="0">
                <a:latin typeface="Algerian" panose="04020705040A02060702" pitchFamily="82" charset="0"/>
              </a:rPr>
              <a:t>Sommaire</a:t>
            </a:r>
            <a:endParaRPr lang="fr-FR" sz="7200" dirty="0">
              <a:latin typeface="Algerian" panose="04020705040A02060702" pitchFamily="82" charset="0"/>
            </a:endParaRPr>
          </a:p>
        </p:txBody>
      </p:sp>
      <p:sp>
        <p:nvSpPr>
          <p:cNvPr id="3" name="Espace réservé du contenu 2"/>
          <p:cNvSpPr>
            <a:spLocks noGrp="1"/>
          </p:cNvSpPr>
          <p:nvPr>
            <p:ph idx="1"/>
          </p:nvPr>
        </p:nvSpPr>
        <p:spPr>
          <a:xfrm>
            <a:off x="1295401" y="2556931"/>
            <a:ext cx="9601195" cy="3923381"/>
          </a:xfrm>
        </p:spPr>
        <p:txBody>
          <a:bodyPr/>
          <a:lstStyle/>
          <a:p>
            <a:pPr>
              <a:buFont typeface="Wingdings" panose="05000000000000000000" pitchFamily="2" charset="2"/>
              <a:buChar char="Ø"/>
            </a:pPr>
            <a:r>
              <a:rPr lang="fr-FR" b="1" dirty="0" smtClean="0">
                <a:latin typeface="Arial" panose="020B0604020202020204" pitchFamily="34" charset="0"/>
                <a:cs typeface="Arial" panose="020B0604020202020204" pitchFamily="34" charset="0"/>
              </a:rPr>
              <a:t>création </a:t>
            </a:r>
            <a:r>
              <a:rPr lang="fr-FR" b="1" dirty="0">
                <a:latin typeface="Arial" panose="020B0604020202020204" pitchFamily="34" charset="0"/>
                <a:cs typeface="Arial" panose="020B0604020202020204" pitchFamily="34" charset="0"/>
              </a:rPr>
              <a:t>du dépôt, arborescence des fichiers et structure HTML de </a:t>
            </a:r>
            <a:r>
              <a:rPr lang="fr-FR" b="1" dirty="0" smtClean="0">
                <a:latin typeface="Arial" panose="020B0604020202020204" pitchFamily="34" charset="0"/>
                <a:cs typeface="Arial" panose="020B0604020202020204" pitchFamily="34" charset="0"/>
              </a:rPr>
              <a:t>base</a:t>
            </a:r>
          </a:p>
          <a:p>
            <a:pPr>
              <a:buFont typeface="Wingdings" panose="05000000000000000000" pitchFamily="2" charset="2"/>
              <a:buChar char="Ø"/>
            </a:pPr>
            <a:r>
              <a:rPr lang="fr-FR" b="1" dirty="0">
                <a:latin typeface="Arial" panose="020B0604020202020204" pitchFamily="34" charset="0"/>
                <a:cs typeface="Arial" panose="020B0604020202020204" pitchFamily="34" charset="0"/>
              </a:rPr>
              <a:t>structure complète des 5 pages avec sections et contenu </a:t>
            </a:r>
            <a:r>
              <a:rPr lang="fr-FR" b="1" dirty="0" smtClean="0">
                <a:latin typeface="Arial" panose="020B0604020202020204" pitchFamily="34" charset="0"/>
                <a:cs typeface="Arial" panose="020B0604020202020204" pitchFamily="34" charset="0"/>
              </a:rPr>
              <a:t>texte</a:t>
            </a:r>
          </a:p>
          <a:p>
            <a:pPr>
              <a:buFont typeface="Wingdings" panose="05000000000000000000" pitchFamily="2" charset="2"/>
              <a:buChar char="Ø"/>
            </a:pPr>
            <a:r>
              <a:rPr lang="fr-FR" b="1" dirty="0">
                <a:latin typeface="Arial" panose="020B0604020202020204" pitchFamily="34" charset="0"/>
                <a:cs typeface="Arial" panose="020B0604020202020204" pitchFamily="34" charset="0"/>
              </a:rPr>
              <a:t>variables, typographie, layout général et styles de </a:t>
            </a:r>
            <a:r>
              <a:rPr lang="fr-FR" b="1" dirty="0" smtClean="0">
                <a:latin typeface="Arial" panose="020B0604020202020204" pitchFamily="34" charset="0"/>
                <a:cs typeface="Arial" panose="020B0604020202020204" pitchFamily="34" charset="0"/>
              </a:rPr>
              <a:t>base</a:t>
            </a:r>
          </a:p>
          <a:p>
            <a:pPr>
              <a:buFont typeface="Wingdings" panose="05000000000000000000" pitchFamily="2" charset="2"/>
              <a:buChar char="Ø"/>
            </a:pPr>
            <a:r>
              <a:rPr lang="fr-FR" b="1" dirty="0">
                <a:latin typeface="Arial" panose="020B0604020202020204" pitchFamily="34" charset="0"/>
                <a:cs typeface="Arial" panose="020B0604020202020204" pitchFamily="34" charset="0"/>
              </a:rPr>
              <a:t>Bento Grid, sections hero et catégories, effets </a:t>
            </a:r>
            <a:r>
              <a:rPr lang="fr-FR" b="1" dirty="0" smtClean="0">
                <a:latin typeface="Arial" panose="020B0604020202020204" pitchFamily="34" charset="0"/>
                <a:cs typeface="Arial" panose="020B0604020202020204" pitchFamily="34" charset="0"/>
              </a:rPr>
              <a:t>hover</a:t>
            </a:r>
          </a:p>
          <a:p>
            <a:pPr>
              <a:buFont typeface="Wingdings" panose="05000000000000000000" pitchFamily="2" charset="2"/>
              <a:buChar char="Ø"/>
            </a:pPr>
            <a:r>
              <a:rPr lang="fr-FR" b="1" dirty="0">
                <a:latin typeface="Arial" panose="020B0604020202020204" pitchFamily="34" charset="0"/>
                <a:cs typeface="Arial" panose="020B0604020202020204" pitchFamily="34" charset="0"/>
              </a:rPr>
              <a:t>dark mode avec localStorage, navbar dynamique au </a:t>
            </a:r>
            <a:r>
              <a:rPr lang="fr-FR" b="1" dirty="0" smtClean="0">
                <a:latin typeface="Arial" panose="020B0604020202020204" pitchFamily="34" charset="0"/>
                <a:cs typeface="Arial" panose="020B0604020202020204" pitchFamily="34" charset="0"/>
              </a:rPr>
              <a:t>scroll</a:t>
            </a:r>
          </a:p>
          <a:p>
            <a:pPr>
              <a:buFont typeface="Wingdings" panose="05000000000000000000" pitchFamily="2" charset="2"/>
              <a:buChar char="Ø"/>
            </a:pPr>
            <a:r>
              <a:rPr lang="fr-FR" b="1" dirty="0">
                <a:latin typeface="Arial" panose="020B0604020202020204" pitchFamily="34" charset="0"/>
                <a:cs typeface="Arial" panose="020B0604020202020204" pitchFamily="34" charset="0"/>
              </a:rPr>
              <a:t>compteurs animés au scroll et animations fade-in des </a:t>
            </a:r>
            <a:r>
              <a:rPr lang="fr-FR" b="1" dirty="0" smtClean="0">
                <a:latin typeface="Arial" panose="020B0604020202020204" pitchFamily="34" charset="0"/>
                <a:cs typeface="Arial" panose="020B0604020202020204" pitchFamily="34" charset="0"/>
              </a:rPr>
              <a:t>sections</a:t>
            </a:r>
          </a:p>
          <a:p>
            <a:pPr>
              <a:buFont typeface="Wingdings" panose="05000000000000000000" pitchFamily="2" charset="2"/>
              <a:buChar char="Ø"/>
            </a:pPr>
            <a:r>
              <a:rPr lang="fr-FR" b="1" dirty="0">
                <a:latin typeface="Arial" panose="020B0604020202020204" pitchFamily="34" charset="0"/>
                <a:cs typeface="Arial" panose="020B0604020202020204" pitchFamily="34" charset="0"/>
              </a:rPr>
              <a:t>filtrage dynamique des freelances et validation du formulaire de </a:t>
            </a:r>
            <a:r>
              <a:rPr lang="fr-FR" b="1" dirty="0" smtClean="0">
                <a:latin typeface="Arial" panose="020B0604020202020204" pitchFamily="34" charset="0"/>
                <a:cs typeface="Arial" panose="020B0604020202020204" pitchFamily="34" charset="0"/>
              </a:rPr>
              <a:t>contact</a:t>
            </a:r>
          </a:p>
          <a:p>
            <a:pPr>
              <a:buFont typeface="Wingdings" panose="05000000000000000000" pitchFamily="2" charset="2"/>
              <a:buChar char="Ø"/>
            </a:pPr>
            <a:r>
              <a:rPr lang="fr-FR" b="1" dirty="0">
                <a:latin typeface="Arial" panose="020B0604020202020204" pitchFamily="34" charset="0"/>
                <a:cs typeface="Arial" panose="020B0604020202020204" pitchFamily="34" charset="0"/>
              </a:rPr>
              <a:t>corrections responsive, optimisation du code et </a:t>
            </a:r>
            <a:r>
              <a:rPr lang="fr-FR" b="1" dirty="0" smtClean="0">
                <a:latin typeface="Arial" panose="020B0604020202020204" pitchFamily="34" charset="0"/>
                <a:cs typeface="Arial" panose="020B0604020202020204" pitchFamily="34" charset="0"/>
              </a:rPr>
              <a:t>commentaire</a:t>
            </a:r>
          </a:p>
          <a:p>
            <a:pPr>
              <a:buFont typeface="Wingdings" panose="05000000000000000000" pitchFamily="2" charset="2"/>
              <a:buChar char="Ø"/>
            </a:pPr>
            <a:r>
              <a:rPr lang="fr-FR" b="1" dirty="0">
                <a:latin typeface="Arial" panose="020B0604020202020204" pitchFamily="34" charset="0"/>
                <a:cs typeface="Arial" panose="020B0604020202020204" pitchFamily="34" charset="0"/>
              </a:rPr>
              <a:t>GitHub Pages activé, README finalisé et présentation </a:t>
            </a:r>
            <a:r>
              <a:rPr lang="fr-FR" b="1" dirty="0" smtClean="0">
                <a:latin typeface="Arial" panose="020B0604020202020204" pitchFamily="34" charset="0"/>
                <a:cs typeface="Arial" panose="020B0604020202020204" pitchFamily="34" charset="0"/>
              </a:rPr>
              <a:t>PowerPoint ajoutée</a:t>
            </a:r>
          </a:p>
          <a:p>
            <a:pPr>
              <a:buFont typeface="Wingdings" panose="05000000000000000000" pitchFamily="2" charset="2"/>
              <a:buChar char="Ø"/>
            </a:pPr>
            <a:endParaRPr lang="fr-FR" dirty="0" smtClean="0"/>
          </a:p>
          <a:p>
            <a:pPr>
              <a:buFont typeface="Wingdings" panose="05000000000000000000" pitchFamily="2" charset="2"/>
              <a:buChar char="Ø"/>
            </a:pPr>
            <a:endParaRPr lang="fr-FR" dirty="0" smtClean="0"/>
          </a:p>
          <a:p>
            <a:pPr marL="0" indent="0">
              <a:buNone/>
            </a:pPr>
            <a:endParaRPr lang="fr-FR" dirty="0" smtClean="0"/>
          </a:p>
          <a:p>
            <a:endParaRPr lang="fr-FR" dirty="0"/>
          </a:p>
        </p:txBody>
      </p:sp>
    </p:spTree>
    <p:extLst>
      <p:ext uri="{BB962C8B-B14F-4D97-AF65-F5344CB8AC3E}">
        <p14:creationId xmlns:p14="http://schemas.microsoft.com/office/powerpoint/2010/main" val="1714814292"/>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000" b="1" dirty="0" smtClean="0">
                <a:latin typeface="Algerian" panose="04020705040A02060702" pitchFamily="82" charset="0"/>
              </a:rPr>
              <a:t>Présentation du projet</a:t>
            </a:r>
            <a:endParaRPr lang="fr-FR" sz="4000" b="1" dirty="0">
              <a:latin typeface="Algerian" panose="04020705040A02060702" pitchFamily="82" charset="0"/>
            </a:endParaRPr>
          </a:p>
        </p:txBody>
      </p:sp>
      <p:sp>
        <p:nvSpPr>
          <p:cNvPr id="3" name="Espace réservé du contenu 2"/>
          <p:cNvSpPr>
            <a:spLocks noGrp="1"/>
          </p:cNvSpPr>
          <p:nvPr>
            <p:ph idx="1"/>
          </p:nvPr>
        </p:nvSpPr>
        <p:spPr/>
        <p:txBody>
          <a:bodyPr/>
          <a:lstStyle/>
          <a:p>
            <a:r>
              <a:rPr lang="fr-FR" dirty="0" smtClean="0"/>
              <a:t>AFRITALENT est une plateforme numérique qui a pour objectif de mettre en relation les talents africains avec des entreprises et des clients à travers le monde. Le projet vise à valoriser les compétences africaines dans plusieurs domaines tels que développement web, le design graphique, le marketing digital, la rédaction, et bien d’autres services numérique</a:t>
            </a:r>
          </a:p>
          <a:p>
            <a:endParaRPr lang="fr-FR" dirty="0"/>
          </a:p>
          <a:p>
            <a:r>
              <a:rPr lang="fr-FR" dirty="0" smtClean="0"/>
              <a:t>Le projet s’inscrit dans une démarche de transformation numérique et de développement économique du continent en offrant d’avantage d’opportunités professionnelles aux jeunes africains. Son ambition est de devenir une  référence pour l’emploi et la collaboration professionnelle en Afrique</a:t>
            </a:r>
            <a:endParaRPr lang="fr-FR" dirty="0"/>
          </a:p>
        </p:txBody>
      </p:sp>
    </p:spTree>
    <p:extLst>
      <p:ext uri="{BB962C8B-B14F-4D97-AF65-F5344CB8AC3E}">
        <p14:creationId xmlns:p14="http://schemas.microsoft.com/office/powerpoint/2010/main" val="754501224"/>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400" b="1" dirty="0" smtClean="0">
                <a:latin typeface="Algerian" panose="04020705040A02060702" pitchFamily="82" charset="0"/>
              </a:rPr>
              <a:t>CHOIX DE DESIGN</a:t>
            </a:r>
            <a:endParaRPr lang="fr-FR" sz="4400" b="1" dirty="0">
              <a:latin typeface="Algerian" panose="04020705040A02060702" pitchFamily="82" charset="0"/>
            </a:endParaRPr>
          </a:p>
        </p:txBody>
      </p:sp>
      <p:sp>
        <p:nvSpPr>
          <p:cNvPr id="3" name="Espace réservé du contenu 2"/>
          <p:cNvSpPr>
            <a:spLocks noGrp="1"/>
          </p:cNvSpPr>
          <p:nvPr>
            <p:ph idx="1"/>
          </p:nvPr>
        </p:nvSpPr>
        <p:spPr>
          <a:xfrm>
            <a:off x="1154954" y="2603500"/>
            <a:ext cx="8825659" cy="3727726"/>
          </a:xfrm>
        </p:spPr>
        <p:txBody>
          <a:bodyPr>
            <a:normAutofit/>
          </a:bodyPr>
          <a:lstStyle/>
          <a:p>
            <a:pPr marL="0" indent="0">
              <a:buNone/>
            </a:pPr>
            <a:r>
              <a:rPr lang="fr-FR" dirty="0" smtClean="0"/>
              <a:t>Palette de couleurs</a:t>
            </a:r>
          </a:p>
          <a:p>
            <a:r>
              <a:rPr lang="fr-FR" dirty="0" smtClean="0"/>
              <a:t>Pour la couleur primaire j’ai choisi #dee2e6 un gris très clair</a:t>
            </a:r>
          </a:p>
          <a:p>
            <a:r>
              <a:rPr lang="fr-FR" dirty="0" smtClean="0"/>
              <a:t>#f8edeb un rose beige </a:t>
            </a:r>
            <a:r>
              <a:rPr lang="fr-FR" dirty="0" smtClean="0"/>
              <a:t>très </a:t>
            </a:r>
            <a:r>
              <a:rPr lang="fr-FR" dirty="0" smtClean="0"/>
              <a:t>pale et doux pour la couleur secondaire</a:t>
            </a:r>
            <a:endParaRPr lang="fr-FR" dirty="0"/>
          </a:p>
          <a:p>
            <a:r>
              <a:rPr lang="fr-FR" dirty="0" smtClean="0"/>
              <a:t>#0f1213 un noir utilisé pour le pied de page , texte du menu …</a:t>
            </a:r>
          </a:p>
          <a:p>
            <a:pPr marL="0" indent="0">
              <a:buNone/>
            </a:pPr>
            <a:r>
              <a:rPr lang="fr-FR" dirty="0" smtClean="0"/>
              <a:t>Police d </a:t>
            </a:r>
            <a:r>
              <a:rPr lang="fr-FR" dirty="0" smtClean="0"/>
              <a:t>’</a:t>
            </a:r>
            <a:r>
              <a:rPr lang="fr-FR" dirty="0"/>
              <a:t>é</a:t>
            </a:r>
            <a:r>
              <a:rPr lang="fr-FR" dirty="0" smtClean="0"/>
              <a:t>criture</a:t>
            </a:r>
            <a:endParaRPr lang="fr-FR" dirty="0" smtClean="0"/>
          </a:p>
          <a:p>
            <a:pPr marL="0" indent="0">
              <a:buNone/>
            </a:pPr>
            <a:r>
              <a:rPr lang="fr-FR" dirty="0" smtClean="0"/>
              <a:t>J’ai choisi poppins,serif , time new romance</a:t>
            </a:r>
          </a:p>
          <a:p>
            <a:pPr marL="0" indent="0">
              <a:buNone/>
            </a:pPr>
            <a:r>
              <a:rPr lang="fr-FR" dirty="0" smtClean="0"/>
              <a:t>Inspiration de design</a:t>
            </a:r>
          </a:p>
          <a:p>
            <a:pPr marL="0" indent="0">
              <a:buNone/>
            </a:pPr>
            <a:r>
              <a:rPr lang="fr-FR" dirty="0" smtClean="0"/>
              <a:t>L’association de nuances clair et douces avec un contraste sombre </a:t>
            </a:r>
            <a:r>
              <a:rPr lang="fr-FR" dirty="0" smtClean="0"/>
              <a:t>très </a:t>
            </a:r>
            <a:r>
              <a:rPr lang="fr-FR" dirty="0" smtClean="0"/>
              <a:t>marqué </a:t>
            </a:r>
            <a:r>
              <a:rPr lang="fr-FR" dirty="0" smtClean="0"/>
              <a:t>évoque </a:t>
            </a:r>
            <a:r>
              <a:rPr lang="fr-FR" dirty="0" smtClean="0"/>
              <a:t>un design </a:t>
            </a:r>
            <a:r>
              <a:rPr lang="fr-FR" dirty="0" smtClean="0"/>
              <a:t>épuré élégant et </a:t>
            </a:r>
            <a:r>
              <a:rPr lang="fr-FR" dirty="0" smtClean="0"/>
              <a:t>souvent utilise pour des portfolio des blogs de mode ou des sites de marques premium</a:t>
            </a:r>
          </a:p>
        </p:txBody>
      </p:sp>
    </p:spTree>
    <p:extLst>
      <p:ext uri="{BB962C8B-B14F-4D97-AF65-F5344CB8AC3E}">
        <p14:creationId xmlns:p14="http://schemas.microsoft.com/office/powerpoint/2010/main" val="168835919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000" b="1" dirty="0" smtClean="0">
                <a:latin typeface="Algerian" panose="04020705040A02060702" pitchFamily="82" charset="0"/>
              </a:rPr>
              <a:t>Architecture </a:t>
            </a:r>
            <a:endParaRPr lang="fr-FR" sz="4000" b="1" dirty="0">
              <a:latin typeface="Algerian" panose="04020705040A02060702" pitchFamily="82" charset="0"/>
            </a:endParaRPr>
          </a:p>
        </p:txBody>
      </p:sp>
      <p:sp>
        <p:nvSpPr>
          <p:cNvPr id="3" name="Espace réservé du contenu 2"/>
          <p:cNvSpPr>
            <a:spLocks noGrp="1"/>
          </p:cNvSpPr>
          <p:nvPr>
            <p:ph idx="1"/>
          </p:nvPr>
        </p:nvSpPr>
        <p:spPr>
          <a:xfrm>
            <a:off x="99391" y="1331843"/>
            <a:ext cx="9881222" cy="5526157"/>
          </a:xfrm>
        </p:spPr>
        <p:txBody>
          <a:bodyPr>
            <a:noAutofit/>
          </a:bodyPr>
          <a:lstStyle/>
          <a:p>
            <a:pPr marL="0" indent="0">
              <a:buNone/>
            </a:pPr>
            <a:endParaRPr lang="fr-FR" sz="900" dirty="0">
              <a:latin typeface="Consolas" panose="020B0609020204030204" pitchFamily="49" charset="0"/>
            </a:endParaRPr>
          </a:p>
          <a:p>
            <a:pPr marL="0" indent="0">
              <a:buNone/>
            </a:pPr>
            <a:r>
              <a:rPr lang="fr-FR" sz="900" dirty="0">
                <a:latin typeface="Consolas" panose="020B0609020204030204" pitchFamily="49" charset="0"/>
              </a:rPr>
              <a:t>C:.</a:t>
            </a:r>
          </a:p>
          <a:p>
            <a:pPr marL="0" indent="0">
              <a:buNone/>
            </a:pPr>
            <a:r>
              <a:rPr lang="fr-FR" sz="900" dirty="0">
                <a:latin typeface="Consolas" panose="020B0609020204030204" pitchFamily="49" charset="0"/>
              </a:rPr>
              <a:t>¦   aborescence.txt</a:t>
            </a:r>
          </a:p>
          <a:p>
            <a:pPr marL="0" indent="0">
              <a:buNone/>
            </a:pPr>
            <a:r>
              <a:rPr lang="fr-FR" sz="900" dirty="0">
                <a:latin typeface="Consolas" panose="020B0609020204030204" pitchFamily="49" charset="0"/>
              </a:rPr>
              <a:t>¦   About.html</a:t>
            </a:r>
          </a:p>
          <a:p>
            <a:pPr marL="0" indent="0">
              <a:buNone/>
            </a:pPr>
            <a:r>
              <a:rPr lang="fr-FR" sz="900" dirty="0">
                <a:latin typeface="Consolas" panose="020B0609020204030204" pitchFamily="49" charset="0"/>
              </a:rPr>
              <a:t>¦   Contact.html</a:t>
            </a:r>
          </a:p>
          <a:p>
            <a:pPr marL="0" indent="0">
              <a:buNone/>
            </a:pPr>
            <a:r>
              <a:rPr lang="fr-FR" sz="900" dirty="0">
                <a:latin typeface="Consolas" panose="020B0609020204030204" pitchFamily="49" charset="0"/>
              </a:rPr>
              <a:t>¦   Freelances.html</a:t>
            </a:r>
          </a:p>
          <a:p>
            <a:pPr marL="0" indent="0">
              <a:buNone/>
            </a:pPr>
            <a:r>
              <a:rPr lang="fr-FR" sz="900" dirty="0">
                <a:latin typeface="Consolas" panose="020B0609020204030204" pitchFamily="49" charset="0"/>
              </a:rPr>
              <a:t>¦   index.html</a:t>
            </a:r>
          </a:p>
          <a:p>
            <a:pPr marL="0" indent="0">
              <a:buNone/>
            </a:pPr>
            <a:r>
              <a:rPr lang="fr-FR" sz="900" dirty="0">
                <a:latin typeface="Consolas" panose="020B0609020204030204" pitchFamily="49" charset="0"/>
              </a:rPr>
              <a:t>¦   Tarifs.html</a:t>
            </a:r>
          </a:p>
          <a:p>
            <a:pPr marL="0" indent="0">
              <a:buNone/>
            </a:pPr>
            <a:r>
              <a:rPr lang="fr-FR" sz="900" dirty="0">
                <a:latin typeface="Consolas" panose="020B0609020204030204" pitchFamily="49" charset="0"/>
              </a:rPr>
              <a:t>¦   </a:t>
            </a:r>
          </a:p>
          <a:p>
            <a:pPr marL="0" indent="0">
              <a:buNone/>
            </a:pPr>
            <a:r>
              <a:rPr lang="fr-FR" sz="900" dirty="0">
                <a:latin typeface="Consolas" panose="020B0609020204030204" pitchFamily="49" charset="0"/>
              </a:rPr>
              <a:t>+---css</a:t>
            </a:r>
          </a:p>
          <a:p>
            <a:pPr marL="0" indent="0">
              <a:buNone/>
            </a:pPr>
            <a:r>
              <a:rPr lang="fr-FR" sz="900" dirty="0">
                <a:latin typeface="Consolas" panose="020B0609020204030204" pitchFamily="49" charset="0"/>
              </a:rPr>
              <a:t>¦   ¦   style.css</a:t>
            </a:r>
          </a:p>
          <a:p>
            <a:pPr marL="0" indent="0">
              <a:buNone/>
            </a:pPr>
            <a:r>
              <a:rPr lang="fr-FR" sz="900" dirty="0">
                <a:latin typeface="Consolas" panose="020B0609020204030204" pitchFamily="49" charset="0"/>
              </a:rPr>
              <a:t>¦   ¦   </a:t>
            </a:r>
          </a:p>
          <a:p>
            <a:pPr marL="0" indent="0">
              <a:buNone/>
            </a:pPr>
            <a:r>
              <a:rPr lang="fr-FR" sz="900" dirty="0">
                <a:latin typeface="Consolas" panose="020B0609020204030204" pitchFamily="49" charset="0"/>
              </a:rPr>
              <a:t>¦   +---js</a:t>
            </a:r>
          </a:p>
          <a:p>
            <a:pPr marL="0" indent="0">
              <a:buNone/>
            </a:pPr>
            <a:r>
              <a:rPr lang="fr-FR" sz="900" dirty="0">
                <a:latin typeface="Consolas" panose="020B0609020204030204" pitchFamily="49" charset="0"/>
              </a:rPr>
              <a:t>¦           .</a:t>
            </a:r>
            <a:r>
              <a:rPr lang="fr-FR" sz="900" dirty="0" err="1">
                <a:latin typeface="Consolas" panose="020B0609020204030204" pitchFamily="49" charset="0"/>
              </a:rPr>
              <a:t>gitignore</a:t>
            </a:r>
            <a:endParaRPr lang="fr-FR" sz="900" dirty="0">
              <a:latin typeface="Consolas" panose="020B0609020204030204" pitchFamily="49" charset="0"/>
            </a:endParaRPr>
          </a:p>
          <a:p>
            <a:pPr marL="0" indent="0">
              <a:buNone/>
            </a:pPr>
            <a:r>
              <a:rPr lang="fr-FR" sz="900" dirty="0">
                <a:latin typeface="Consolas" panose="020B0609020204030204" pitchFamily="49" charset="0"/>
              </a:rPr>
              <a:t>¦           main.js</a:t>
            </a:r>
          </a:p>
          <a:p>
            <a:pPr marL="0" indent="0">
              <a:buNone/>
            </a:pPr>
            <a:r>
              <a:rPr lang="fr-FR" sz="900" dirty="0">
                <a:latin typeface="Consolas" panose="020B0609020204030204" pitchFamily="49" charset="0"/>
              </a:rPr>
              <a:t>¦           README.md</a:t>
            </a:r>
          </a:p>
          <a:p>
            <a:pPr marL="0" indent="0">
              <a:buNone/>
            </a:pPr>
            <a:r>
              <a:rPr lang="fr-FR" sz="900" dirty="0">
                <a:latin typeface="Consolas" panose="020B0609020204030204" pitchFamily="49" charset="0"/>
              </a:rPr>
              <a:t>¦           </a:t>
            </a:r>
          </a:p>
          <a:p>
            <a:pPr marL="0" indent="0">
              <a:buNone/>
            </a:pPr>
            <a:r>
              <a:rPr lang="fr-FR" sz="900" dirty="0">
                <a:latin typeface="Consolas" panose="020B0609020204030204" pitchFamily="49" charset="0"/>
              </a:rPr>
              <a:t>+---Docs</a:t>
            </a:r>
          </a:p>
          <a:p>
            <a:pPr marL="0" indent="0">
              <a:buNone/>
            </a:pPr>
            <a:r>
              <a:rPr lang="fr-FR" sz="900" dirty="0">
                <a:latin typeface="Consolas" panose="020B0609020204030204" pitchFamily="49" charset="0"/>
              </a:rPr>
              <a:t>¦       cisse_ndeye_sokhna.pptx</a:t>
            </a:r>
          </a:p>
          <a:p>
            <a:pPr marL="0" indent="0">
              <a:buNone/>
            </a:pPr>
            <a:r>
              <a:rPr lang="fr-FR" sz="900" dirty="0">
                <a:latin typeface="Consolas" panose="020B0609020204030204" pitchFamily="49" charset="0"/>
              </a:rPr>
              <a:t>¦       </a:t>
            </a:r>
          </a:p>
          <a:p>
            <a:pPr marL="0" indent="0">
              <a:buNone/>
            </a:pPr>
            <a:r>
              <a:rPr lang="fr-FR" sz="900" dirty="0">
                <a:latin typeface="Consolas" panose="020B0609020204030204" pitchFamily="49" charset="0"/>
              </a:rPr>
              <a:t>+---</a:t>
            </a:r>
            <a:r>
              <a:rPr lang="fr-FR" sz="900" dirty="0" smtClean="0">
                <a:latin typeface="Consolas" panose="020B0609020204030204" pitchFamily="49" charset="0"/>
              </a:rPr>
              <a:t>images</a:t>
            </a:r>
            <a:endParaRPr lang="fr-FR" sz="900" dirty="0">
              <a:latin typeface="Consolas" panose="020B0609020204030204" pitchFamily="49" charset="0"/>
            </a:endParaRPr>
          </a:p>
        </p:txBody>
      </p:sp>
    </p:spTree>
    <p:extLst>
      <p:ext uri="{BB962C8B-B14F-4D97-AF65-F5344CB8AC3E}">
        <p14:creationId xmlns:p14="http://schemas.microsoft.com/office/powerpoint/2010/main" val="4014518394"/>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latin typeface="Algerian" panose="04020705040A02060702" pitchFamily="82" charset="0"/>
              </a:rPr>
              <a:t>Capture </a:t>
            </a:r>
            <a:r>
              <a:rPr lang="fr-FR" b="1" i="1" dirty="0" smtClean="0">
                <a:latin typeface="Algerian" panose="04020705040A02060702" pitchFamily="82" charset="0"/>
              </a:rPr>
              <a:t>d’</a:t>
            </a:r>
            <a:r>
              <a:rPr lang="fr-FR" b="1" i="1" dirty="0" smtClean="0">
                <a:latin typeface="Algerian" panose="04020705040A02060702" pitchFamily="82" charset="0"/>
              </a:rPr>
              <a:t>é</a:t>
            </a:r>
            <a:r>
              <a:rPr lang="fr-FR" b="1" i="1" dirty="0" smtClean="0">
                <a:latin typeface="Algerian" panose="04020705040A02060702" pitchFamily="82" charset="0"/>
              </a:rPr>
              <a:t>cran </a:t>
            </a:r>
            <a:r>
              <a:rPr lang="fr-FR" b="1" i="1" dirty="0" smtClean="0">
                <a:latin typeface="Algerian" panose="04020705040A02060702" pitchFamily="82" charset="0"/>
              </a:rPr>
              <a:t>des pages</a:t>
            </a:r>
            <a:endParaRPr lang="fr-FR" b="1" i="1" dirty="0">
              <a:latin typeface="Algerian" panose="04020705040A02060702" pitchFamily="82" charset="0"/>
            </a:endParaRPr>
          </a:p>
        </p:txBody>
      </p:sp>
      <p:pic>
        <p:nvPicPr>
          <p:cNvPr id="4" name="Espace réservé du contenu 3"/>
          <p:cNvPicPr>
            <a:picLocks noGrp="1" noChangeAspect="1"/>
          </p:cNvPicPr>
          <p:nvPr>
            <p:ph idx="1"/>
          </p:nvPr>
        </p:nvPicPr>
        <p:blipFill>
          <a:blip r:embed="rId2"/>
          <a:stretch>
            <a:fillRect/>
          </a:stretch>
        </p:blipFill>
        <p:spPr>
          <a:xfrm>
            <a:off x="238538" y="2276061"/>
            <a:ext cx="3321122" cy="2902225"/>
          </a:xfrm>
          <a:prstGeom prst="rect">
            <a:avLst/>
          </a:prstGeom>
        </p:spPr>
      </p:pic>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347" y="2633869"/>
            <a:ext cx="7762645" cy="3588393"/>
          </a:xfrm>
          <a:prstGeom prst="rect">
            <a:avLst/>
          </a:prstGeom>
        </p:spPr>
      </p:pic>
    </p:spTree>
    <p:extLst>
      <p:ext uri="{BB962C8B-B14F-4D97-AF65-F5344CB8AC3E}">
        <p14:creationId xmlns:p14="http://schemas.microsoft.com/office/powerpoint/2010/main" val="737631982"/>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400" b="1" i="1" dirty="0" smtClean="0">
                <a:latin typeface="Algerian" panose="04020705040A02060702" pitchFamily="82" charset="0"/>
              </a:rPr>
              <a:t>Point </a:t>
            </a:r>
            <a:r>
              <a:rPr lang="fr-FR" sz="4400" b="1" i="1" dirty="0" smtClean="0">
                <a:latin typeface="Algerian" panose="04020705040A02060702" pitchFamily="82" charset="0"/>
              </a:rPr>
              <a:t>technique java</a:t>
            </a:r>
            <a:endParaRPr lang="fr-FR" sz="4400" b="1" i="1" dirty="0">
              <a:latin typeface="Algerian" panose="04020705040A02060702" pitchFamily="82" charset="0"/>
            </a:endParaRPr>
          </a:p>
        </p:txBody>
      </p:sp>
      <p:sp>
        <p:nvSpPr>
          <p:cNvPr id="3" name="Espace réservé du contenu 2"/>
          <p:cNvSpPr>
            <a:spLocks noGrp="1"/>
          </p:cNvSpPr>
          <p:nvPr>
            <p:ph idx="1"/>
          </p:nvPr>
        </p:nvSpPr>
        <p:spPr>
          <a:xfrm>
            <a:off x="304800" y="2281381"/>
            <a:ext cx="9675814" cy="4239491"/>
          </a:xfrm>
        </p:spPr>
        <p:txBody>
          <a:bodyPr>
            <a:normAutofit/>
          </a:bodyPr>
          <a:lstStyle/>
          <a:p>
            <a:pPr marL="0" indent="0" algn="just">
              <a:buNone/>
            </a:pPr>
            <a:r>
              <a:rPr lang="fr-FR" sz="900" dirty="0" smtClean="0"/>
              <a:t>Utilisation d’un intersectionobserver pour surveiller l’</a:t>
            </a:r>
            <a:r>
              <a:rPr lang="fr-FR" sz="900" dirty="0" smtClean="0"/>
              <a:t>é</a:t>
            </a:r>
            <a:r>
              <a:rPr lang="fr-FR" sz="900" dirty="0" smtClean="0"/>
              <a:t>cran. Des que la section entre dans la zone visible du navigateur à hauteur de 10% js lui injecte la classe css .</a:t>
            </a:r>
            <a:r>
              <a:rPr lang="fr-FR" sz="900" dirty="0" err="1" smtClean="0"/>
              <a:t>is</a:t>
            </a:r>
            <a:r>
              <a:rPr lang="fr-FR" sz="900" dirty="0" smtClean="0"/>
              <a:t>-visible pour déclencher l’effet</a:t>
            </a:r>
            <a:endParaRPr lang="fr-FR" sz="900" dirty="0"/>
          </a:p>
          <a:p>
            <a:pPr marL="0" indent="0" algn="just">
              <a:buNone/>
            </a:pPr>
            <a:r>
              <a:rPr lang="fr-FR" sz="900" dirty="0"/>
              <a:t> const </a:t>
            </a:r>
            <a:r>
              <a:rPr lang="fr-FR" sz="900" dirty="0" smtClean="0"/>
              <a:t>fade Sections </a:t>
            </a:r>
            <a:r>
              <a:rPr lang="fr-FR" sz="900" dirty="0"/>
              <a:t>= document.querySelectorAll('.fade-in-section');</a:t>
            </a:r>
          </a:p>
          <a:p>
            <a:pPr marL="0" indent="0" algn="just">
              <a:buNone/>
            </a:pPr>
            <a:r>
              <a:rPr lang="fr-FR" sz="900" dirty="0"/>
              <a:t/>
            </a:r>
            <a:br>
              <a:rPr lang="fr-FR" sz="900" dirty="0"/>
            </a:br>
            <a:r>
              <a:rPr lang="fr-FR" sz="900" dirty="0"/>
              <a:t>    // </a:t>
            </a:r>
            <a:r>
              <a:rPr lang="fr-FR" sz="900" dirty="0" smtClean="0"/>
              <a:t>création </a:t>
            </a:r>
            <a:r>
              <a:rPr lang="fr-FR" sz="900" dirty="0"/>
              <a:t>de l'observateur pour les sections</a:t>
            </a:r>
          </a:p>
          <a:p>
            <a:pPr marL="0" indent="0" algn="just">
              <a:buNone/>
            </a:pPr>
            <a:r>
              <a:rPr lang="fr-FR" sz="900" dirty="0"/>
              <a:t>    const fadeObserver= new </a:t>
            </a:r>
            <a:r>
              <a:rPr lang="fr-FR" sz="900" dirty="0" smtClean="0"/>
              <a:t>Intersectionobserver((</a:t>
            </a:r>
            <a:r>
              <a:rPr lang="fr-FR" sz="900" dirty="0"/>
              <a:t>entries,fadeObserver)=&gt;{</a:t>
            </a:r>
          </a:p>
          <a:p>
            <a:pPr marL="0" indent="0" algn="just">
              <a:buNone/>
            </a:pPr>
            <a:r>
              <a:rPr lang="fr-FR" sz="900" dirty="0"/>
              <a:t>        entries.forEach(entry =&gt;{</a:t>
            </a:r>
          </a:p>
          <a:p>
            <a:pPr marL="0" indent="0" algn="just">
              <a:buNone/>
            </a:pPr>
            <a:r>
              <a:rPr lang="fr-FR" sz="900" dirty="0"/>
              <a:t>            if(</a:t>
            </a:r>
            <a:r>
              <a:rPr lang="fr-FR" sz="900" dirty="0" err="1"/>
              <a:t>entry.isIntersecting</a:t>
            </a:r>
            <a:r>
              <a:rPr lang="fr-FR" sz="900" dirty="0"/>
              <a:t>){</a:t>
            </a:r>
          </a:p>
          <a:p>
            <a:pPr marL="0" indent="0" algn="just">
              <a:buNone/>
            </a:pPr>
            <a:r>
              <a:rPr lang="fr-FR" sz="900" dirty="0"/>
              <a:t>                entry.target.classList.add('</a:t>
            </a:r>
            <a:r>
              <a:rPr lang="fr-FR" sz="900" dirty="0" err="1"/>
              <a:t>is</a:t>
            </a:r>
            <a:r>
              <a:rPr lang="fr-FR" sz="900" dirty="0"/>
              <a:t>-visible');</a:t>
            </a:r>
          </a:p>
          <a:p>
            <a:pPr marL="0" indent="0" algn="just">
              <a:buNone/>
            </a:pPr>
            <a:r>
              <a:rPr lang="fr-FR" sz="900" dirty="0"/>
              <a:t>                fadeObserver.unobserve(</a:t>
            </a:r>
            <a:r>
              <a:rPr lang="fr-FR" sz="900" dirty="0" err="1"/>
              <a:t>entry.target</a:t>
            </a:r>
            <a:r>
              <a:rPr lang="fr-FR" sz="900" dirty="0"/>
              <a:t>);</a:t>
            </a:r>
          </a:p>
          <a:p>
            <a:pPr marL="0" indent="0" algn="just">
              <a:buNone/>
            </a:pPr>
            <a:r>
              <a:rPr lang="fr-FR" sz="900" dirty="0"/>
              <a:t>            }</a:t>
            </a:r>
          </a:p>
          <a:p>
            <a:pPr marL="0" indent="0" algn="just">
              <a:buNone/>
            </a:pPr>
            <a:r>
              <a:rPr lang="fr-FR" sz="900" dirty="0"/>
              <a:t>        });</a:t>
            </a:r>
          </a:p>
          <a:p>
            <a:pPr marL="0" indent="0" algn="just">
              <a:buNone/>
            </a:pPr>
            <a:r>
              <a:rPr lang="fr-FR" sz="900" dirty="0"/>
              <a:t>        </a:t>
            </a:r>
          </a:p>
          <a:p>
            <a:pPr marL="0" indent="0" algn="just">
              <a:buNone/>
            </a:pPr>
            <a:r>
              <a:rPr lang="fr-FR" sz="900" dirty="0"/>
              <a:t>    } ,{</a:t>
            </a:r>
          </a:p>
          <a:p>
            <a:pPr marL="0" indent="0" algn="just">
              <a:buNone/>
            </a:pPr>
            <a:r>
              <a:rPr lang="fr-FR" sz="900" dirty="0"/>
              <a:t>        // </a:t>
            </a:r>
            <a:r>
              <a:rPr lang="fr-FR" sz="900" dirty="0" smtClean="0"/>
              <a:t>déclenche </a:t>
            </a:r>
            <a:r>
              <a:rPr lang="fr-FR" sz="900" dirty="0"/>
              <a:t>des le </a:t>
            </a:r>
            <a:r>
              <a:rPr lang="fr-FR" sz="900" dirty="0" smtClean="0"/>
              <a:t>début </a:t>
            </a:r>
            <a:r>
              <a:rPr lang="fr-FR" sz="900" dirty="0"/>
              <a:t>de l'apparition</a:t>
            </a:r>
          </a:p>
          <a:p>
            <a:pPr marL="0" indent="0" algn="just">
              <a:buNone/>
            </a:pPr>
            <a:r>
              <a:rPr lang="fr-FR" sz="900" dirty="0"/>
              <a:t>        threshold:0.1</a:t>
            </a:r>
          </a:p>
          <a:p>
            <a:pPr marL="0" indent="0" algn="just">
              <a:buNone/>
            </a:pPr>
            <a:r>
              <a:rPr lang="fr-FR" sz="900" dirty="0"/>
              <a:t>    });</a:t>
            </a:r>
          </a:p>
          <a:p>
            <a:pPr marL="0" indent="0" algn="just">
              <a:buNone/>
            </a:pPr>
            <a:endParaRPr lang="fr-FR" sz="900" dirty="0"/>
          </a:p>
        </p:txBody>
      </p:sp>
    </p:spTree>
    <p:extLst>
      <p:ext uri="{BB962C8B-B14F-4D97-AF65-F5344CB8AC3E}">
        <p14:creationId xmlns:p14="http://schemas.microsoft.com/office/powerpoint/2010/main" val="9958161"/>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latin typeface="Algerian" panose="04020705040A02060702" pitchFamily="82" charset="0"/>
              </a:rPr>
              <a:t>Point technique bootstrap et css</a:t>
            </a:r>
            <a:endParaRPr lang="fr-FR" b="1" i="1" dirty="0">
              <a:latin typeface="Algerian" panose="04020705040A02060702" pitchFamily="82" charset="0"/>
            </a:endParaRPr>
          </a:p>
        </p:txBody>
      </p:sp>
      <p:sp>
        <p:nvSpPr>
          <p:cNvPr id="3" name="Espace réservé du contenu 2"/>
          <p:cNvSpPr>
            <a:spLocks noGrp="1"/>
          </p:cNvSpPr>
          <p:nvPr>
            <p:ph idx="1"/>
          </p:nvPr>
        </p:nvSpPr>
        <p:spPr/>
        <p:txBody>
          <a:bodyPr/>
          <a:lstStyle/>
          <a:p>
            <a:r>
              <a:rPr lang="fr-FR" dirty="0" smtClean="0"/>
              <a:t>Le système de la grille: utilisation des classes container, row et col-md pour créer une structure fluide qui aligne automatiquement les sections</a:t>
            </a:r>
          </a:p>
          <a:p>
            <a:r>
              <a:rPr lang="fr-FR" dirty="0" smtClean="0"/>
              <a:t>Les cartes: emploi du composant card</a:t>
            </a:r>
            <a:r>
              <a:rPr lang="fr-FR" dirty="0"/>
              <a:t> </a:t>
            </a:r>
            <a:r>
              <a:rPr lang="fr-FR" dirty="0" smtClean="0"/>
              <a:t>avec card-</a:t>
            </a:r>
            <a:r>
              <a:rPr lang="fr-FR" dirty="0" err="1" smtClean="0"/>
              <a:t>img</a:t>
            </a:r>
            <a:r>
              <a:rPr lang="fr-FR" dirty="0" smtClean="0"/>
              <a:t>-top et card-body pour structurer proprement les encadrés d’informations</a:t>
            </a:r>
          </a:p>
          <a:p>
            <a:pPr marL="0" indent="0">
              <a:buNone/>
            </a:pPr>
            <a:r>
              <a:rPr lang="fr-FR" dirty="0" smtClean="0"/>
              <a:t>CSS</a:t>
            </a:r>
          </a:p>
          <a:p>
            <a:r>
              <a:rPr lang="fr-FR" dirty="0" smtClean="0"/>
              <a:t>Les variables css: déclaration des couleurs dans :root, :nth-child pour cibler et styliser les éléments précis des cartes ou du liste de navigation sans avoir à ajouter des dizaines de classes inutiles</a:t>
            </a:r>
            <a:endParaRPr lang="fr-FR" dirty="0"/>
          </a:p>
        </p:txBody>
      </p:sp>
    </p:spTree>
    <p:extLst>
      <p:ext uri="{BB962C8B-B14F-4D97-AF65-F5344CB8AC3E}">
        <p14:creationId xmlns:p14="http://schemas.microsoft.com/office/powerpoint/2010/main" val="3165679638"/>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000" b="1" i="1" dirty="0" smtClean="0">
                <a:latin typeface="Algerian" panose="04020705040A02060702" pitchFamily="82" charset="0"/>
              </a:rPr>
              <a:t>Historique </a:t>
            </a:r>
            <a:r>
              <a:rPr lang="fr-FR" sz="4000" b="1" i="1" dirty="0" smtClean="0">
                <a:latin typeface="Algerian" panose="04020705040A02060702" pitchFamily="82" charset="0"/>
              </a:rPr>
              <a:t>GitHub</a:t>
            </a:r>
            <a:endParaRPr lang="fr-FR" sz="4000" b="1" i="1" dirty="0">
              <a:latin typeface="Algerian" panose="04020705040A02060702" pitchFamily="82" charset="0"/>
            </a:endParaRPr>
          </a:p>
        </p:txBody>
      </p:sp>
      <p:pic>
        <p:nvPicPr>
          <p:cNvPr id="4" name="Espace réservé du contenu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2415208"/>
            <a:ext cx="9501809" cy="4353339"/>
          </a:xfrm>
        </p:spPr>
      </p:pic>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06910" y="3299791"/>
            <a:ext cx="7885090" cy="3558209"/>
          </a:xfrm>
          <a:prstGeom prst="rect">
            <a:avLst/>
          </a:prstGeom>
        </p:spPr>
      </p:pic>
    </p:spTree>
    <p:extLst>
      <p:ext uri="{BB962C8B-B14F-4D97-AF65-F5344CB8AC3E}">
        <p14:creationId xmlns:p14="http://schemas.microsoft.com/office/powerpoint/2010/main" val="310014859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latin typeface="Algerian" panose="04020705040A02060702" pitchFamily="82" charset="0"/>
              </a:rPr>
              <a:t>Workflow </a:t>
            </a:r>
            <a:r>
              <a:rPr lang="fr-FR" b="1" i="1" dirty="0" smtClean="0">
                <a:latin typeface="Algerian" panose="04020705040A02060702" pitchFamily="82" charset="0"/>
              </a:rPr>
              <a:t>git et lien </a:t>
            </a:r>
            <a:r>
              <a:rPr lang="fr-FR" b="1" i="1" dirty="0" smtClean="0">
                <a:latin typeface="Algerian" panose="04020705040A02060702" pitchFamily="82" charset="0"/>
              </a:rPr>
              <a:t>GitHub </a:t>
            </a:r>
            <a:r>
              <a:rPr lang="fr-FR" b="1" i="1" dirty="0" smtClean="0">
                <a:latin typeface="Algerian" panose="04020705040A02060702" pitchFamily="82" charset="0"/>
              </a:rPr>
              <a:t>page</a:t>
            </a:r>
            <a:endParaRPr lang="fr-FR" b="1" i="1" dirty="0">
              <a:latin typeface="Algerian" panose="04020705040A02060702" pitchFamily="82" charset="0"/>
            </a:endParaRPr>
          </a:p>
        </p:txBody>
      </p:sp>
      <p:sp>
        <p:nvSpPr>
          <p:cNvPr id="3" name="Espace réservé du contenu 2"/>
          <p:cNvSpPr>
            <a:spLocks noGrp="1"/>
          </p:cNvSpPr>
          <p:nvPr>
            <p:ph idx="1"/>
          </p:nvPr>
        </p:nvSpPr>
        <p:spPr/>
        <p:txBody>
          <a:bodyPr/>
          <a:lstStyle/>
          <a:p>
            <a:r>
              <a:rPr lang="fr-FR" dirty="0" smtClean="0"/>
              <a:t>Dépôt </a:t>
            </a:r>
            <a:r>
              <a:rPr lang="fr-FR" dirty="0" smtClean="0"/>
              <a:t>local: gestion du code en local avec les commandes git add.</a:t>
            </a:r>
          </a:p>
          <a:p>
            <a:r>
              <a:rPr lang="fr-FR" dirty="0" smtClean="0"/>
              <a:t>Dépôt </a:t>
            </a:r>
            <a:r>
              <a:rPr lang="fr-FR" dirty="0" smtClean="0"/>
              <a:t>distant : envoie avec git push</a:t>
            </a:r>
          </a:p>
          <a:p>
            <a:pPr marL="0" indent="0">
              <a:buNone/>
            </a:pPr>
            <a:endParaRPr lang="fr-FR" dirty="0"/>
          </a:p>
        </p:txBody>
      </p:sp>
      <p:sp>
        <p:nvSpPr>
          <p:cNvPr id="4" name="Rectangle à coins arrondis 3"/>
          <p:cNvSpPr/>
          <p:nvPr/>
        </p:nvSpPr>
        <p:spPr>
          <a:xfrm>
            <a:off x="8539728" y="4452730"/>
            <a:ext cx="1846663" cy="97403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b="1" dirty="0" smtClean="0">
                <a:ln w="22225">
                  <a:solidFill>
                    <a:schemeClr val="accent2"/>
                  </a:solidFill>
                  <a:prstDash val="solid"/>
                </a:ln>
                <a:solidFill>
                  <a:schemeClr val="accent2">
                    <a:lumMod val="40000"/>
                    <a:lumOff val="60000"/>
                  </a:schemeClr>
                </a:solidFill>
                <a:hlinkClick r:id="rId2"/>
              </a:rPr>
              <a:t>consulter les </a:t>
            </a:r>
            <a:r>
              <a:rPr lang="fr-FR" b="1" dirty="0" err="1" smtClean="0">
                <a:ln w="22225">
                  <a:solidFill>
                    <a:schemeClr val="accent2"/>
                  </a:solidFill>
                  <a:prstDash val="solid"/>
                </a:ln>
                <a:solidFill>
                  <a:schemeClr val="accent2">
                    <a:lumMod val="40000"/>
                    <a:lumOff val="60000"/>
                  </a:schemeClr>
                </a:solidFill>
                <a:hlinkClick r:id="rId2"/>
              </a:rPr>
              <a:t>commits</a:t>
            </a:r>
            <a:r>
              <a:rPr lang="fr-FR" b="1" dirty="0" smtClean="0">
                <a:ln w="22225">
                  <a:solidFill>
                    <a:schemeClr val="accent2"/>
                  </a:solidFill>
                  <a:prstDash val="solid"/>
                </a:ln>
                <a:solidFill>
                  <a:schemeClr val="accent2">
                    <a:lumMod val="40000"/>
                    <a:lumOff val="60000"/>
                  </a:schemeClr>
                </a:solidFill>
                <a:hlinkClick r:id="rId2"/>
              </a:rPr>
              <a:t> sur GitHub</a:t>
            </a:r>
            <a:endParaRPr lang="fr-FR"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074185349"/>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latin typeface="Algerian" panose="04020705040A02060702" pitchFamily="82" charset="0"/>
              </a:rPr>
              <a:t>Difficulté </a:t>
            </a:r>
            <a:r>
              <a:rPr lang="fr-FR" b="1" i="1" dirty="0" smtClean="0">
                <a:latin typeface="Algerian" panose="04020705040A02060702" pitchFamily="82" charset="0"/>
              </a:rPr>
              <a:t>rencontre et solution</a:t>
            </a:r>
            <a:endParaRPr lang="fr-FR" b="1" i="1" dirty="0">
              <a:latin typeface="Algerian" panose="04020705040A02060702" pitchFamily="82" charset="0"/>
            </a:endParaRPr>
          </a:p>
        </p:txBody>
      </p:sp>
      <p:sp>
        <p:nvSpPr>
          <p:cNvPr id="3" name="Espace réservé du contenu 2"/>
          <p:cNvSpPr>
            <a:spLocks noGrp="1"/>
          </p:cNvSpPr>
          <p:nvPr>
            <p:ph idx="1"/>
          </p:nvPr>
        </p:nvSpPr>
        <p:spPr/>
        <p:txBody>
          <a:bodyPr/>
          <a:lstStyle/>
          <a:p>
            <a:r>
              <a:rPr lang="fr-FR" dirty="0" smtClean="0"/>
              <a:t>Gestion du responsive</a:t>
            </a:r>
            <a:endParaRPr lang="fr-FR" dirty="0"/>
          </a:p>
          <a:p>
            <a:pPr marL="0" indent="0">
              <a:buNone/>
            </a:pPr>
            <a:r>
              <a:rPr lang="fr-FR" dirty="0" smtClean="0"/>
              <a:t>Le menu de navigation et les cartes des freelances se </a:t>
            </a:r>
            <a:r>
              <a:rPr lang="fr-FR" dirty="0" err="1" smtClean="0"/>
              <a:t>deformaient</a:t>
            </a:r>
            <a:r>
              <a:rPr lang="fr-FR" dirty="0" smtClean="0"/>
              <a:t> ou dépassaient </a:t>
            </a:r>
            <a:r>
              <a:rPr lang="fr-FR" dirty="0" smtClean="0"/>
              <a:t>l’écran </a:t>
            </a:r>
            <a:r>
              <a:rPr lang="fr-FR" dirty="0" smtClean="0"/>
              <a:t>sur les petits appareils.</a:t>
            </a:r>
          </a:p>
          <a:p>
            <a:pPr marL="0" indent="0">
              <a:buNone/>
            </a:pPr>
            <a:r>
              <a:rPr lang="fr-FR" dirty="0" smtClean="0"/>
              <a:t>Jai du utilise les medias queries pour réorganiser les éléments verticalement et ajuster la taille des textes sur </a:t>
            </a:r>
            <a:r>
              <a:rPr lang="fr-FR" dirty="0" smtClean="0"/>
              <a:t>mobile</a:t>
            </a:r>
          </a:p>
          <a:p>
            <a:r>
              <a:rPr lang="fr-FR" dirty="0" smtClean="0"/>
              <a:t>Organisation des dossiers</a:t>
            </a:r>
          </a:p>
          <a:p>
            <a:pPr marL="0" indent="0">
              <a:buNone/>
            </a:pPr>
            <a:r>
              <a:rPr lang="fr-FR" dirty="0" smtClean="0"/>
              <a:t>j’avais mis un mauvais chemin pour le script java du coup rien ne marcher par la suite j’ai vu que j’avais créer le dossier java dans le dossier de </a:t>
            </a:r>
            <a:r>
              <a:rPr lang="fr-FR" dirty="0" err="1" smtClean="0"/>
              <a:t>css.j’ai</a:t>
            </a:r>
            <a:r>
              <a:rPr lang="fr-FR" dirty="0" smtClean="0"/>
              <a:t> fini par mettre le bon chemin</a:t>
            </a:r>
            <a:endParaRPr lang="fr-FR" dirty="0"/>
          </a:p>
        </p:txBody>
      </p:sp>
    </p:spTree>
    <p:extLst>
      <p:ext uri="{BB962C8B-B14F-4D97-AF65-F5344CB8AC3E}">
        <p14:creationId xmlns:p14="http://schemas.microsoft.com/office/powerpoint/2010/main" val="308674934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latin typeface="Algerian" panose="04020705040A02060702" pitchFamily="82" charset="0"/>
              </a:rPr>
              <a:t>Ressource et documentation utilise</a:t>
            </a:r>
            <a:endParaRPr lang="fr-FR" b="1" i="1" dirty="0">
              <a:latin typeface="Algerian" panose="04020705040A02060702" pitchFamily="82" charset="0"/>
            </a:endParaRPr>
          </a:p>
        </p:txBody>
      </p:sp>
      <p:sp>
        <p:nvSpPr>
          <p:cNvPr id="3" name="Espace réservé du contenu 2"/>
          <p:cNvSpPr>
            <a:spLocks noGrp="1"/>
          </p:cNvSpPr>
          <p:nvPr>
            <p:ph idx="1"/>
          </p:nvPr>
        </p:nvSpPr>
        <p:spPr/>
        <p:txBody>
          <a:bodyPr/>
          <a:lstStyle/>
          <a:p>
            <a:r>
              <a:rPr lang="fr-FR" dirty="0" smtClean="0"/>
              <a:t>MDN WEB DOCS : documentation principale pour la </a:t>
            </a:r>
            <a:r>
              <a:rPr lang="fr-FR" dirty="0" smtClean="0"/>
              <a:t>sémantique </a:t>
            </a:r>
            <a:r>
              <a:rPr lang="fr-FR" dirty="0" smtClean="0"/>
              <a:t>html et les </a:t>
            </a:r>
            <a:r>
              <a:rPr lang="fr-FR" dirty="0" smtClean="0"/>
              <a:t>propriétés </a:t>
            </a:r>
            <a:r>
              <a:rPr lang="fr-FR" dirty="0" smtClean="0"/>
              <a:t>css</a:t>
            </a:r>
          </a:p>
          <a:p>
            <a:r>
              <a:rPr lang="fr-FR" dirty="0" smtClean="0"/>
              <a:t>Google fonts &amp; </a:t>
            </a:r>
            <a:r>
              <a:rPr lang="fr-FR" dirty="0" smtClean="0"/>
              <a:t>icones </a:t>
            </a:r>
            <a:r>
              <a:rPr lang="fr-FR" dirty="0" smtClean="0"/>
              <a:t>: </a:t>
            </a:r>
            <a:r>
              <a:rPr lang="fr-FR" dirty="0" smtClean="0"/>
              <a:t>intégration </a:t>
            </a:r>
            <a:r>
              <a:rPr lang="fr-FR" dirty="0" smtClean="0"/>
              <a:t>de la police géométrique poppins pour l’identité visuel. Utilisation de la </a:t>
            </a:r>
            <a:r>
              <a:rPr lang="fr-FR" dirty="0" smtClean="0"/>
              <a:t>bibliothèque </a:t>
            </a:r>
            <a:r>
              <a:rPr lang="fr-FR" dirty="0" smtClean="0"/>
              <a:t>d’icones pour les menus et </a:t>
            </a:r>
            <a:r>
              <a:rPr lang="fr-FR" dirty="0" smtClean="0"/>
              <a:t>élément </a:t>
            </a:r>
            <a:r>
              <a:rPr lang="fr-FR" dirty="0" smtClean="0"/>
              <a:t>graphique</a:t>
            </a:r>
          </a:p>
          <a:p>
            <a:r>
              <a:rPr lang="fr-FR" dirty="0" smtClean="0"/>
              <a:t>Documentation git et </a:t>
            </a:r>
            <a:r>
              <a:rPr lang="fr-FR" dirty="0" smtClean="0"/>
              <a:t>GitHub:  </a:t>
            </a:r>
            <a:r>
              <a:rPr lang="fr-FR" dirty="0" smtClean="0"/>
              <a:t>atelier </a:t>
            </a:r>
            <a:r>
              <a:rPr lang="fr-FR" dirty="0" smtClean="0"/>
              <a:t>GitHub </a:t>
            </a:r>
            <a:r>
              <a:rPr lang="fr-FR" dirty="0" smtClean="0"/>
              <a:t>de Robert</a:t>
            </a:r>
          </a:p>
          <a:p>
            <a:r>
              <a:rPr lang="fr-FR" dirty="0" smtClean="0"/>
              <a:t>Tutos </a:t>
            </a:r>
            <a:endParaRPr lang="fr-FR" dirty="0"/>
          </a:p>
        </p:txBody>
      </p:sp>
    </p:spTree>
    <p:extLst>
      <p:ext uri="{BB962C8B-B14F-4D97-AF65-F5344CB8AC3E}">
        <p14:creationId xmlns:p14="http://schemas.microsoft.com/office/powerpoint/2010/main" val="4192930505"/>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latin typeface="Algerian" panose="04020705040A02060702" pitchFamily="82" charset="0"/>
              </a:rPr>
              <a:t>Démonstration </a:t>
            </a:r>
            <a:r>
              <a:rPr lang="fr-FR" b="1" i="1" dirty="0" smtClean="0">
                <a:latin typeface="Algerian" panose="04020705040A02060702" pitchFamily="82" charset="0"/>
              </a:rPr>
              <a:t>live du site</a:t>
            </a:r>
            <a:endParaRPr lang="fr-FR" b="1" i="1" dirty="0">
              <a:latin typeface="Algerian" panose="04020705040A02060702" pitchFamily="82" charset="0"/>
            </a:endParaRPr>
          </a:p>
        </p:txBody>
      </p:sp>
      <p:sp>
        <p:nvSpPr>
          <p:cNvPr id="3" name="Espace réservé du contenu 2"/>
          <p:cNvSpPr>
            <a:spLocks noGrp="1"/>
          </p:cNvSpPr>
          <p:nvPr>
            <p:ph idx="1"/>
          </p:nvPr>
        </p:nvSpPr>
        <p:spPr/>
        <p:txBody>
          <a:bodyPr/>
          <a:lstStyle/>
          <a:p>
            <a:pPr marL="0" indent="0">
              <a:buNone/>
            </a:pPr>
            <a:endParaRPr lang="fr-FR" dirty="0"/>
          </a:p>
        </p:txBody>
      </p:sp>
      <p:sp>
        <p:nvSpPr>
          <p:cNvPr id="4" name="Rectangle à coins arrondis 3">
            <a:hlinkClick r:id="rId2"/>
          </p:cNvPr>
          <p:cNvSpPr/>
          <p:nvPr/>
        </p:nvSpPr>
        <p:spPr>
          <a:xfrm>
            <a:off x="1570383" y="3677478"/>
            <a:ext cx="3677478" cy="1162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Lancer la démonstration</a:t>
            </a:r>
            <a:endParaRPr lang="fr-FR" dirty="0"/>
          </a:p>
        </p:txBody>
      </p:sp>
    </p:spTree>
    <p:extLst>
      <p:ext uri="{BB962C8B-B14F-4D97-AF65-F5344CB8AC3E}">
        <p14:creationId xmlns:p14="http://schemas.microsoft.com/office/powerpoint/2010/main" val="230844661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30445" y="936722"/>
            <a:ext cx="8761413" cy="706964"/>
          </a:xfrm>
        </p:spPr>
        <p:txBody>
          <a:bodyPr/>
          <a:lstStyle/>
          <a:p>
            <a:r>
              <a:rPr lang="fr-FR" sz="3200" b="1" i="1" dirty="0" smtClean="0">
                <a:latin typeface="Algerian" panose="04020705040A02060702" pitchFamily="82" charset="0"/>
              </a:rPr>
              <a:t>Conclusion et perspective à </a:t>
            </a:r>
            <a:r>
              <a:rPr lang="fr-FR" sz="3200" b="1" i="1" dirty="0" smtClean="0">
                <a:latin typeface="Algerian" panose="04020705040A02060702" pitchFamily="82" charset="0"/>
              </a:rPr>
              <a:t>améliorer</a:t>
            </a:r>
            <a:endParaRPr lang="fr-FR" sz="3200" b="1" i="1" dirty="0">
              <a:latin typeface="Algerian" panose="04020705040A02060702" pitchFamily="82" charset="0"/>
            </a:endParaRP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smtClean="0"/>
              <a:t>Conclusion</a:t>
            </a:r>
          </a:p>
          <a:p>
            <a:pPr marL="0" indent="0">
              <a:buNone/>
            </a:pPr>
            <a:r>
              <a:rPr lang="fr-FR" dirty="0" smtClean="0"/>
              <a:t>Objectifs atteints: </a:t>
            </a:r>
            <a:r>
              <a:rPr lang="fr-FR" dirty="0" smtClean="0"/>
              <a:t>création </a:t>
            </a:r>
            <a:r>
              <a:rPr lang="fr-FR" dirty="0" smtClean="0"/>
              <a:t>d ’une plateforme moderne, responsive et fluide pour les freelances africains</a:t>
            </a:r>
          </a:p>
          <a:p>
            <a:pPr marL="0" indent="0">
              <a:buNone/>
            </a:pPr>
            <a:r>
              <a:rPr lang="fr-FR" dirty="0" smtClean="0"/>
              <a:t>Compétences </a:t>
            </a:r>
            <a:r>
              <a:rPr lang="fr-FR" dirty="0" smtClean="0"/>
              <a:t>acquises: maitrise du git, </a:t>
            </a:r>
            <a:r>
              <a:rPr lang="fr-FR" dirty="0" smtClean="0"/>
              <a:t>intégration </a:t>
            </a:r>
            <a:r>
              <a:rPr lang="fr-FR" dirty="0" smtClean="0"/>
              <a:t>du js dynamique(Dark mode , </a:t>
            </a:r>
            <a:r>
              <a:rPr lang="fr-FR" dirty="0" smtClean="0"/>
              <a:t>Storage local)</a:t>
            </a:r>
            <a:endParaRPr lang="fr-FR" dirty="0" smtClean="0"/>
          </a:p>
          <a:p>
            <a:r>
              <a:rPr lang="fr-FR" dirty="0" smtClean="0"/>
              <a:t>Perspectives à </a:t>
            </a:r>
            <a:r>
              <a:rPr lang="fr-FR" dirty="0" smtClean="0"/>
              <a:t>améliorer</a:t>
            </a:r>
            <a:endParaRPr lang="fr-FR" dirty="0" smtClean="0"/>
          </a:p>
          <a:p>
            <a:pPr marL="0" indent="0">
              <a:buNone/>
            </a:pPr>
            <a:r>
              <a:rPr lang="fr-FR" dirty="0" smtClean="0"/>
              <a:t>Ajouter d’autre page pour les inscriptions et connexions</a:t>
            </a:r>
          </a:p>
          <a:p>
            <a:pPr marL="0" indent="0">
              <a:buNone/>
            </a:pPr>
            <a:r>
              <a:rPr lang="fr-FR" dirty="0" smtClean="0"/>
              <a:t>Plus travailler sur le java</a:t>
            </a:r>
            <a:endParaRPr lang="fr-FR" dirty="0"/>
          </a:p>
        </p:txBody>
      </p:sp>
    </p:spTree>
    <p:extLst>
      <p:ext uri="{BB962C8B-B14F-4D97-AF65-F5344CB8AC3E}">
        <p14:creationId xmlns:p14="http://schemas.microsoft.com/office/powerpoint/2010/main" val="2299227764"/>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irection Ion">
  <a:themeElements>
    <a:clrScheme name="Direction 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Direction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rection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TM02900722[[fn=Salle Ion]]</Template>
  <TotalTime>298</TotalTime>
  <Words>591</Words>
  <Application>Microsoft Office PowerPoint</Application>
  <PresentationFormat>Grand écran</PresentationFormat>
  <Paragraphs>98</Paragraphs>
  <Slides>14</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Algerian</vt:lpstr>
      <vt:lpstr>Arial</vt:lpstr>
      <vt:lpstr>Century Gothic</vt:lpstr>
      <vt:lpstr>Consolas</vt:lpstr>
      <vt:lpstr>Wingdings</vt:lpstr>
      <vt:lpstr>Wingdings 3</vt:lpstr>
      <vt:lpstr>Direction Ion</vt:lpstr>
      <vt:lpstr>AfriTalent</vt:lpstr>
      <vt:lpstr>Sommaire</vt:lpstr>
      <vt:lpstr>Présentation du projet</vt:lpstr>
      <vt:lpstr>CHOIX DE DESIGN</vt:lpstr>
      <vt:lpstr>Architecture </vt:lpstr>
      <vt:lpstr>Capture d’écran des pages</vt:lpstr>
      <vt:lpstr>Point technique java</vt:lpstr>
      <vt:lpstr>Point technique bootstrap et css</vt:lpstr>
      <vt:lpstr>Historique GitHub</vt:lpstr>
      <vt:lpstr>Workflow git et lien GitHub page</vt:lpstr>
      <vt:lpstr>Difficulté rencontre et solution</vt:lpstr>
      <vt:lpstr>Ressource et documentation utilise</vt:lpstr>
      <vt:lpstr>Démonstration live du site</vt:lpstr>
      <vt:lpstr>Conclusion et perspective à améliorer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Compte Microsoft</dc:creator>
  <cp:lastModifiedBy>Compte Microsoft</cp:lastModifiedBy>
  <cp:revision>27</cp:revision>
  <dcterms:created xsi:type="dcterms:W3CDTF">2026-06-14T23:07:34Z</dcterms:created>
  <dcterms:modified xsi:type="dcterms:W3CDTF">2026-06-15T23:43:07Z</dcterms:modified>
</cp:coreProperties>
</file>