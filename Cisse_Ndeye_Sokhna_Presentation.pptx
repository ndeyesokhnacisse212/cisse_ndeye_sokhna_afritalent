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69" d="100"/>
          <a:sy n="69" d="100"/>
        </p:scale>
        <p:origin x="56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fr-FR" smtClean="0"/>
              <a:t>Modifiez le style du titre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smtClean="0"/>
              <a:t>Modifiez le style des sous-titres du masque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fr-FR"/>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143806006"/>
      </p:ext>
    </p:extLst>
  </p:cSld>
  <p:clrMapOvr>
    <a:masterClrMapping/>
  </p:clrMapOvr>
  <p:transition>
    <p:wheel spokes="1"/>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125089031"/>
      </p:ext>
    </p:extLst>
  </p:cSld>
  <p:clrMapOvr>
    <a:masterClrMapping/>
  </p:clrMapOvr>
  <p:transition>
    <p:wheel spokes="1"/>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fr-FR" smtClean="0"/>
              <a:t>Modifiez le style du titre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Modifiez les styles du texte du masque</a:t>
            </a:r>
          </a:p>
        </p:txBody>
      </p:sp>
      <p:sp>
        <p:nvSpPr>
          <p:cNvPr id="4" name="Date Placeholder 3"/>
          <p:cNvSpPr>
            <a:spLocks noGrp="1"/>
          </p:cNvSpPr>
          <p:nvPr>
            <p:ph type="dt" sz="half" idx="10"/>
          </p:nvPr>
        </p:nvSpPr>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468148907"/>
      </p:ext>
    </p:extLst>
  </p:cSld>
  <p:clrMapOvr>
    <a:masterClrMapping/>
  </p:clrMapOvr>
  <p:transition>
    <p:wheel spokes="1"/>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smtClean="0"/>
              <a:t>Modifiez le style du titre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Date Placeholder 4"/>
          <p:cNvSpPr>
            <a:spLocks noGrp="1"/>
          </p:cNvSpPr>
          <p:nvPr>
            <p:ph type="dt" sz="half" idx="10"/>
          </p:nvPr>
        </p:nvSpPr>
        <p:spPr/>
        <p:txBody>
          <a:bodyPr/>
          <a:lstStyle/>
          <a:p>
            <a:fld id="{FCB2854F-5FFD-4349-8EBE-754969A014F3}" type="datetimeFigureOut">
              <a:rPr lang="fr-FR" smtClean="0"/>
              <a:t>21/06/2026</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289914926"/>
      </p:ext>
    </p:extLst>
  </p:cSld>
  <p:clrMapOvr>
    <a:masterClrMapping/>
  </p:clrMapOvr>
  <p:transition>
    <p:wheel spokes="1"/>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fr-FR" smtClean="0"/>
              <a:t>Modifiez le style du titre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7" name="Date Placeholder 6"/>
          <p:cNvSpPr>
            <a:spLocks noGrp="1"/>
          </p:cNvSpPr>
          <p:nvPr>
            <p:ph type="dt" sz="half" idx="10"/>
          </p:nvPr>
        </p:nvSpPr>
        <p:spPr/>
        <p:txBody>
          <a:bodyPr/>
          <a:lstStyle/>
          <a:p>
            <a:fld id="{FCB2854F-5FFD-4349-8EBE-754969A014F3}" type="datetimeFigureOut">
              <a:rPr lang="fr-FR" smtClean="0"/>
              <a:t>21/06/2026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916505008"/>
      </p:ext>
    </p:extLst>
  </p:cSld>
  <p:clrMapOvr>
    <a:masterClrMapping/>
  </p:clrMapOvr>
  <p:transition>
    <p:wheel spokes="1"/>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fr-FR" smtClean="0"/>
              <a:t>Modifiez le style du titre</a:t>
            </a:r>
            <a:endParaRPr lang="en-US" dirty="0"/>
          </a:p>
        </p:txBody>
      </p:sp>
      <p:sp>
        <p:nvSpPr>
          <p:cNvPr id="3" name="Date Placeholder 2"/>
          <p:cNvSpPr>
            <a:spLocks noGrp="1"/>
          </p:cNvSpPr>
          <p:nvPr>
            <p:ph type="dt" sz="half" idx="10"/>
          </p:nvPr>
        </p:nvSpPr>
        <p:spPr/>
        <p:txBody>
          <a:bodyPr/>
          <a:lstStyle/>
          <a:p>
            <a:fld id="{FCB2854F-5FFD-4349-8EBE-754969A014F3}" type="datetimeFigureOut">
              <a:rPr lang="fr-FR" smtClean="0"/>
              <a:t>21/06/2026</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481965734"/>
      </p:ext>
    </p:extLst>
  </p:cSld>
  <p:clrMapOvr>
    <a:masterClrMapping/>
  </p:clrMapOvr>
  <p:transition>
    <p:wheel spokes="1"/>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B2854F-5FFD-4349-8EBE-754969A014F3}" type="datetimeFigureOut">
              <a:rPr lang="fr-FR" smtClean="0"/>
              <a:t>21/06/2026</a:t>
            </a:fld>
            <a:endParaRPr lang="fr-FR"/>
          </a:p>
        </p:txBody>
      </p:sp>
      <p:sp>
        <p:nvSpPr>
          <p:cNvPr id="3" name="Footer Placeholder 2"/>
          <p:cNvSpPr>
            <a:spLocks noGrp="1"/>
          </p:cNvSpPr>
          <p:nvPr>
            <p:ph type="ftr" sz="quarter" idx="11"/>
          </p:nvPr>
        </p:nvSpPr>
        <p:spPr/>
        <p:txBody>
          <a:bodyPr/>
          <a:lstStyle/>
          <a:p>
            <a:endParaRPr lang="fr-FR"/>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944643730"/>
      </p:ext>
    </p:extLst>
  </p:cSld>
  <p:clrMapOvr>
    <a:masterClrMapping/>
  </p:clrMapOvr>
  <p:transition>
    <p:wheel spokes="1"/>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fr-FR" smtClean="0"/>
              <a:t>Modifiez le style du titre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5" name="Date Placeholder 4"/>
          <p:cNvSpPr>
            <a:spLocks noGrp="1"/>
          </p:cNvSpPr>
          <p:nvPr>
            <p:ph type="dt" sz="half" idx="10"/>
          </p:nvPr>
        </p:nvSpPr>
        <p:spPr/>
        <p:txBody>
          <a:bodyPr/>
          <a:lstStyle/>
          <a:p>
            <a:fld id="{FCB2854F-5FFD-4349-8EBE-754969A014F3}" type="datetimeFigureOut">
              <a:rPr lang="fr-FR" smtClean="0"/>
              <a:t>21/06/2026</a:t>
            </a:fld>
            <a:endParaRPr lang="fr-FR"/>
          </a:p>
        </p:txBody>
      </p:sp>
      <p:sp>
        <p:nvSpPr>
          <p:cNvPr id="6" name="Footer Placeholder 5"/>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1557479329"/>
      </p:ext>
    </p:extLst>
  </p:cSld>
  <p:clrMapOvr>
    <a:masterClrMapping/>
  </p:clrMapOvr>
  <p:transition>
    <p:wheel spokes="1"/>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fr-FR" smtClean="0"/>
              <a:t>Cliquez sur l'icône pour ajouter une image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5" name="Date Placeholder 4"/>
          <p:cNvSpPr>
            <a:spLocks noGrp="1"/>
          </p:cNvSpPr>
          <p:nvPr>
            <p:ph type="dt" sz="half" idx="10"/>
          </p:nvPr>
        </p:nvSpPr>
        <p:spPr/>
        <p:txBody>
          <a:bodyPr/>
          <a:lstStyle/>
          <a:p>
            <a:fld id="{FCB2854F-5FFD-4349-8EBE-754969A014F3}" type="datetimeFigureOut">
              <a:rPr lang="fr-FR" smtClean="0"/>
              <a:t>21/06/2026</a:t>
            </a:fld>
            <a:endParaRPr lang="fr-FR"/>
          </a:p>
        </p:txBody>
      </p:sp>
      <p:sp>
        <p:nvSpPr>
          <p:cNvPr id="6" name="Footer Placeholder 5"/>
          <p:cNvSpPr>
            <a:spLocks noGrp="1"/>
          </p:cNvSpPr>
          <p:nvPr>
            <p:ph type="ftr" sz="quarter" idx="11"/>
          </p:nvPr>
        </p:nvSpPr>
        <p:spPr/>
        <p:txBody>
          <a:bodyPr/>
          <a:lstStyle/>
          <a:p>
            <a:endParaRPr lang="en-US" dirty="0"/>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483817730"/>
      </p:ext>
    </p:extLst>
  </p:cSld>
  <p:clrMapOvr>
    <a:masterClrMapping/>
  </p:clrMapOvr>
  <p:transition>
    <p:wheel spokes="1"/>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 panoramique avec légend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fr-FR" smtClean="0"/>
              <a:t>Modifiez le style du titre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5" name="Date Placeholder 4"/>
          <p:cNvSpPr>
            <a:spLocks noGrp="1"/>
          </p:cNvSpPr>
          <p:nvPr>
            <p:ph type="dt" sz="half" idx="10"/>
          </p:nvPr>
        </p:nvSpPr>
        <p:spPr/>
        <p:txBody>
          <a:bodyPr/>
          <a:lstStyle/>
          <a:p>
            <a:fld id="{FCB2854F-5FFD-4349-8EBE-754969A014F3}" type="datetimeFigureOut">
              <a:rPr lang="fr-FR" smtClean="0"/>
              <a:t>21/06/2026</a:t>
            </a:fld>
            <a:endParaRPr lang="fr-FR"/>
          </a:p>
        </p:txBody>
      </p:sp>
      <p:sp>
        <p:nvSpPr>
          <p:cNvPr id="6" name="Footer Placeholder 5"/>
          <p:cNvSpPr>
            <a:spLocks noGrp="1"/>
          </p:cNvSpPr>
          <p:nvPr>
            <p:ph type="ftr" sz="quarter" idx="11"/>
          </p:nvPr>
        </p:nvSpPr>
        <p:spPr/>
        <p:txBody>
          <a:bodyPr/>
          <a:lstStyle/>
          <a:p>
            <a:endParaRPr lang="fr-F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3535655212"/>
      </p:ext>
    </p:extLst>
  </p:cSld>
  <p:clrMapOvr>
    <a:masterClrMapping/>
  </p:clrMapOvr>
  <p:transition>
    <p:wheel spokes="1"/>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re et légen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fr-FR" smtClean="0"/>
              <a:t>Modifiez le style du titre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4" name="Date Placeholder 3"/>
          <p:cNvSpPr>
            <a:spLocks noGrp="1"/>
          </p:cNvSpPr>
          <p:nvPr>
            <p:ph type="dt" sz="half" idx="10"/>
          </p:nvPr>
        </p:nvSpPr>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3548310502"/>
      </p:ext>
    </p:extLst>
  </p:cSld>
  <p:clrMapOvr>
    <a:masterClrMapping/>
  </p:clrMapOvr>
  <p:transition>
    <p:wheel spokes="1"/>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tion avec légende">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fr-FR" smtClean="0"/>
              <a:t>Modifiez le style du titre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4" name="Date Placeholder 3"/>
          <p:cNvSpPr>
            <a:spLocks noGrp="1"/>
          </p:cNvSpPr>
          <p:nvPr>
            <p:ph type="dt" sz="half" idx="10"/>
          </p:nvPr>
        </p:nvSpPr>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882065939"/>
      </p:ext>
    </p:extLst>
  </p:cSld>
  <p:clrMapOvr>
    <a:masterClrMapping/>
  </p:clrMapOvr>
  <p:transition>
    <p:wheel spokes="1"/>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Carte nom">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fr-FR" smtClean="0"/>
              <a:t>Modifiez le style du titre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smtClean="0"/>
              <a:t>Modifiez les styles du texte du masque</a:t>
            </a:r>
          </a:p>
        </p:txBody>
      </p:sp>
      <p:sp>
        <p:nvSpPr>
          <p:cNvPr id="4" name="Date Placeholder 3"/>
          <p:cNvSpPr>
            <a:spLocks noGrp="1"/>
          </p:cNvSpPr>
          <p:nvPr>
            <p:ph type="dt" sz="half" idx="10"/>
          </p:nvPr>
        </p:nvSpPr>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121969150"/>
      </p:ext>
    </p:extLst>
  </p:cSld>
  <p:clrMapOvr>
    <a:masterClrMapping/>
  </p:clrMapOvr>
  <p:transition>
    <p:wheel spokes="1"/>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onnes">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smtClean="0"/>
              <a:t>Modifiez le style du titre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CB2854F-5FFD-4349-8EBE-754969A014F3}" type="datetimeFigureOut">
              <a:rPr lang="fr-FR" smtClean="0"/>
              <a:t>21/06/2026</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1898827560"/>
      </p:ext>
    </p:extLst>
  </p:cSld>
  <p:clrMapOvr>
    <a:masterClrMapping/>
  </p:clrMapOvr>
  <p:transition>
    <p:wheel spokes="1"/>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onnes d’image">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fr-FR" smtClean="0"/>
              <a:t>Modifiez le style du titre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smtClean="0"/>
              <a:t>Modifiez les styles du texte du masque</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fr-FR" smtClean="0"/>
              <a:t>Cliquez sur l'icône pour ajouter une image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smtClean="0"/>
              <a:t>Modifiez les styles du texte du masque</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CB2854F-5FFD-4349-8EBE-754969A014F3}" type="datetimeFigureOut">
              <a:rPr lang="fr-FR" smtClean="0"/>
              <a:t>21/06/2026</a:t>
            </a:fld>
            <a:endParaRPr lang="fr-FR"/>
          </a:p>
        </p:txBody>
      </p:sp>
      <p:sp>
        <p:nvSpPr>
          <p:cNvPr id="8" name="Footer Placeholder 7"/>
          <p:cNvSpPr>
            <a:spLocks noGrp="1"/>
          </p:cNvSpPr>
          <p:nvPr>
            <p:ph type="ftr" sz="quarter" idx="11"/>
          </p:nvPr>
        </p:nvSpPr>
        <p:spPr>
          <a:xfrm>
            <a:off x="561111" y="6391838"/>
            <a:ext cx="3644282" cy="304801"/>
          </a:xfrm>
        </p:spPr>
        <p:txBody>
          <a:bodyPr/>
          <a:lstStyle/>
          <a:p>
            <a:endParaRPr lang="fr-FR"/>
          </a:p>
        </p:txBody>
      </p:sp>
      <p:sp>
        <p:nvSpPr>
          <p:cNvPr id="9" name="Slide Number Placeholder 8"/>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1968509898"/>
      </p:ext>
    </p:extLst>
  </p:cSld>
  <p:clrMapOvr>
    <a:masterClrMapping/>
  </p:clrMapOvr>
  <p:transition>
    <p:wheel spokes="1"/>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fr-FR" smtClean="0"/>
              <a:t>Modifiez le style du titre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2182607492"/>
      </p:ext>
    </p:extLst>
  </p:cSld>
  <p:clrMapOvr>
    <a:masterClrMapping/>
  </p:clrMapOvr>
  <p:transition>
    <p:wheel spokes="1"/>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fr-FR" smtClean="0"/>
              <a:t>Modifiez le style du titre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FCB2854F-5FFD-4349-8EBE-754969A014F3}" type="datetimeFigureOut">
              <a:rPr lang="fr-FR" smtClean="0"/>
              <a:t>21/06/2026</a:t>
            </a:fld>
            <a:endParaRPr lang="fr-FR"/>
          </a:p>
        </p:txBody>
      </p:sp>
      <p:sp>
        <p:nvSpPr>
          <p:cNvPr id="5" name="Footer Placeholder 4"/>
          <p:cNvSpPr>
            <a:spLocks noGrp="1"/>
          </p:cNvSpPr>
          <p:nvPr>
            <p:ph type="ftr" sz="quarter" idx="11"/>
          </p:nvPr>
        </p:nvSpPr>
        <p:spPr/>
        <p:txBody>
          <a:bodyPr/>
          <a:lstStyle/>
          <a:p>
            <a:endParaRPr lang="fr-F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9F9D0869-B0AC-4E92-9CF1-6B72719835CB}" type="slidenum">
              <a:rPr lang="fr-FR" smtClean="0"/>
              <a:t>‹N°›</a:t>
            </a:fld>
            <a:endParaRPr lang="fr-FR"/>
          </a:p>
        </p:txBody>
      </p:sp>
    </p:spTree>
    <p:extLst>
      <p:ext uri="{BB962C8B-B14F-4D97-AF65-F5344CB8AC3E}">
        <p14:creationId xmlns:p14="http://schemas.microsoft.com/office/powerpoint/2010/main" val="1091926412"/>
      </p:ext>
    </p:extLst>
  </p:cSld>
  <p:clrMapOvr>
    <a:masterClrMapping/>
  </p:clrMapOvr>
  <p:transition>
    <p:wheel spokes="1"/>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fr-FR" smtClean="0"/>
              <a:t>Modifiez le style du titre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FCB2854F-5FFD-4349-8EBE-754969A014F3}" type="datetimeFigureOut">
              <a:rPr lang="fr-FR" smtClean="0"/>
              <a:t>21/06/2026</a:t>
            </a:fld>
            <a:endParaRPr lang="fr-FR"/>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fr-FR"/>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9F9D0869-B0AC-4E92-9CF1-6B72719835CB}" type="slidenum">
              <a:rPr lang="fr-FR" smtClean="0"/>
              <a:t>‹N°›</a:t>
            </a:fld>
            <a:endParaRPr lang="fr-FR"/>
          </a:p>
        </p:txBody>
      </p:sp>
    </p:spTree>
    <p:extLst>
      <p:ext uri="{BB962C8B-B14F-4D97-AF65-F5344CB8AC3E}">
        <p14:creationId xmlns:p14="http://schemas.microsoft.com/office/powerpoint/2010/main" val="75044905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 id="2147483716" r:id="rId14"/>
    <p:sldLayoutId id="2147483717" r:id="rId15"/>
    <p:sldLayoutId id="2147483718" r:id="rId16"/>
    <p:sldLayoutId id="2147483719" r:id="rId17"/>
  </p:sldLayoutIdLst>
  <p:transition>
    <p:wheel spokes="1"/>
  </p:transition>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ndeyesokhnacisse212/cisse_ndeye_sokhna_AfriTalent/commits?author=ndeyesokhnacisse212"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ndeyesokhnacisse212.github.io/cisse_ndeye_sokhna_AfriTalent/"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p:txBody>
          <a:bodyPr/>
          <a:lstStyle/>
          <a:p>
            <a:r>
              <a:rPr lang="fr-FR" b="1" i="1" dirty="0" err="1">
                <a:latin typeface="Algerian" panose="04020705040A02060702" pitchFamily="82" charset="0"/>
              </a:rPr>
              <a:t>AfriTalent</a:t>
            </a:r>
            <a:endParaRPr lang="fr-FR" dirty="0"/>
          </a:p>
        </p:txBody>
      </p:sp>
      <p:sp>
        <p:nvSpPr>
          <p:cNvPr id="3" name="Sous-titre 2"/>
          <p:cNvSpPr>
            <a:spLocks noGrp="1"/>
          </p:cNvSpPr>
          <p:nvPr>
            <p:ph type="subTitle" idx="1"/>
          </p:nvPr>
        </p:nvSpPr>
        <p:spPr/>
        <p:txBody>
          <a:bodyPr>
            <a:normAutofit fontScale="85000" lnSpcReduction="20000"/>
          </a:bodyPr>
          <a:lstStyle/>
          <a:p>
            <a:r>
              <a:rPr lang="fr-FR" b="1" i="1" dirty="0">
                <a:effectLst>
                  <a:outerShdw blurRad="38100" dist="38100" dir="2700000" algn="tl">
                    <a:srgbClr val="000000">
                      <a:alpha val="43137"/>
                    </a:srgbClr>
                  </a:outerShdw>
                </a:effectLst>
                <a:latin typeface="Algerian" panose="04020705040A02060702" pitchFamily="82" charset="0"/>
              </a:rPr>
              <a:t>NDEYE SOKHNA </a:t>
            </a:r>
            <a:r>
              <a:rPr lang="fr-FR" b="1" i="1" dirty="0" smtClean="0">
                <a:effectLst>
                  <a:outerShdw blurRad="38100" dist="38100" dir="2700000" algn="tl">
                    <a:srgbClr val="000000">
                      <a:alpha val="43137"/>
                    </a:srgbClr>
                  </a:outerShdw>
                </a:effectLst>
                <a:latin typeface="Algerian" panose="04020705040A02060702" pitchFamily="82" charset="0"/>
              </a:rPr>
              <a:t>CISSE</a:t>
            </a:r>
          </a:p>
          <a:p>
            <a:pPr algn="ctr"/>
            <a:r>
              <a:rPr lang="fr-FR" b="1" i="1" dirty="0" smtClean="0">
                <a:effectLst>
                  <a:outerShdw blurRad="38100" dist="38100" dir="2700000" algn="tl">
                    <a:srgbClr val="000000">
                      <a:alpha val="43137"/>
                    </a:srgbClr>
                  </a:outerShdw>
                </a:effectLst>
                <a:latin typeface="Algerian" panose="04020705040A02060702" pitchFamily="82" charset="0"/>
              </a:rPr>
              <a:t>17/06/2026</a:t>
            </a:r>
            <a:endParaRPr lang="fr-FR" b="1" i="1" dirty="0">
              <a:effectLst>
                <a:outerShdw blurRad="38100" dist="38100" dir="2700000" algn="tl">
                  <a:srgbClr val="000000">
                    <a:alpha val="43137"/>
                  </a:srgbClr>
                </a:outerShdw>
              </a:effectLst>
              <a:latin typeface="Algerian" panose="04020705040A02060702" pitchFamily="82" charset="0"/>
            </a:endParaRPr>
          </a:p>
          <a:p>
            <a:pPr algn="r"/>
            <a:r>
              <a:rPr lang="fr-FR" sz="1100" b="1" i="1" dirty="0">
                <a:latin typeface="Algerian" panose="04020705040A02060702" pitchFamily="82" charset="0"/>
              </a:rPr>
              <a:t>IAGE L1</a:t>
            </a:r>
          </a:p>
        </p:txBody>
      </p:sp>
    </p:spTree>
    <p:extLst>
      <p:ext uri="{BB962C8B-B14F-4D97-AF65-F5344CB8AC3E}">
        <p14:creationId xmlns:p14="http://schemas.microsoft.com/office/powerpoint/2010/main" val="3858501778"/>
      </p:ext>
    </p:extLst>
  </p:cSld>
  <p:clrMapOvr>
    <a:masterClrMapping/>
  </p:clrMapOvr>
  <p:transition>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45">
                                          <p:stCondLst>
                                            <p:cond delay="0"/>
                                          </p:stCondLst>
                                        </p:cTn>
                                        <p:tgtEl>
                                          <p:spTgt spid="2"/>
                                        </p:tgtEl>
                                      </p:cBhvr>
                                    </p:animEffect>
                                    <p:anim calcmode="lin" valueType="num">
                                      <p:cBhvr>
                                        <p:cTn id="8" dur="456"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166"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166" tmFilter="0, 0; 0.125,0.2665; 0.25,0.4; 0.375,0.465; 0.5,0.5;  0.625,0.535; 0.75,0.6; 0.875,0.7335; 1,1">
                                          <p:stCondLst>
                                            <p:cond delay="166"/>
                                          </p:stCondLst>
                                        </p:cTn>
                                        <p:tgtEl>
                                          <p:spTgt spid="2"/>
                                        </p:tgtEl>
                                        <p:attrNameLst>
                                          <p:attrName>ppt_y</p:attrName>
                                        </p:attrNameLst>
                                      </p:cBhvr>
                                      <p:tavLst>
                                        <p:tav tm="0" fmla="#ppt_y-sin(pi*$)/9">
                                          <p:val>
                                            <p:fltVal val="0"/>
                                          </p:val>
                                        </p:tav>
                                        <p:tav tm="100000">
                                          <p:val>
                                            <p:fltVal val="1"/>
                                          </p:val>
                                        </p:tav>
                                      </p:tavLst>
                                    </p:anim>
                                    <p:anim calcmode="lin" valueType="num">
                                      <p:cBhvr>
                                        <p:cTn id="11" dur="83" tmFilter="0, 0; 0.125,0.2665; 0.25,0.4; 0.375,0.465; 0.5,0.5;  0.625,0.535; 0.75,0.6; 0.875,0.7335; 1,1">
                                          <p:stCondLst>
                                            <p:cond delay="331"/>
                                          </p:stCondLst>
                                        </p:cTn>
                                        <p:tgtEl>
                                          <p:spTgt spid="2"/>
                                        </p:tgtEl>
                                        <p:attrNameLst>
                                          <p:attrName>ppt_y</p:attrName>
                                        </p:attrNameLst>
                                      </p:cBhvr>
                                      <p:tavLst>
                                        <p:tav tm="0" fmla="#ppt_y-sin(pi*$)/27">
                                          <p:val>
                                            <p:fltVal val="0"/>
                                          </p:val>
                                        </p:tav>
                                        <p:tav tm="100000">
                                          <p:val>
                                            <p:fltVal val="1"/>
                                          </p:val>
                                        </p:tav>
                                      </p:tavLst>
                                    </p:anim>
                                    <p:anim calcmode="lin" valueType="num">
                                      <p:cBhvr>
                                        <p:cTn id="12" dur="41" tmFilter="0, 0; 0.125,0.2665; 0.25,0.4; 0.375,0.465; 0.5,0.5;  0.625,0.535; 0.75,0.6; 0.875,0.7335; 1,1">
                                          <p:stCondLst>
                                            <p:cond delay="414"/>
                                          </p:stCondLst>
                                        </p:cTn>
                                        <p:tgtEl>
                                          <p:spTgt spid="2"/>
                                        </p:tgtEl>
                                        <p:attrNameLst>
                                          <p:attrName>ppt_y</p:attrName>
                                        </p:attrNameLst>
                                      </p:cBhvr>
                                      <p:tavLst>
                                        <p:tav tm="0" fmla="#ppt_y-sin(pi*$)/81">
                                          <p:val>
                                            <p:fltVal val="0"/>
                                          </p:val>
                                        </p:tav>
                                        <p:tav tm="100000">
                                          <p:val>
                                            <p:fltVal val="1"/>
                                          </p:val>
                                        </p:tav>
                                      </p:tavLst>
                                    </p:anim>
                                    <p:animScale>
                                      <p:cBhvr>
                                        <p:cTn id="13" dur="7">
                                          <p:stCondLst>
                                            <p:cond delay="162"/>
                                          </p:stCondLst>
                                        </p:cTn>
                                        <p:tgtEl>
                                          <p:spTgt spid="2"/>
                                        </p:tgtEl>
                                      </p:cBhvr>
                                      <p:to x="100000" y="60000"/>
                                    </p:animScale>
                                    <p:animScale>
                                      <p:cBhvr>
                                        <p:cTn id="14" dur="41" decel="50000">
                                          <p:stCondLst>
                                            <p:cond delay="169"/>
                                          </p:stCondLst>
                                        </p:cTn>
                                        <p:tgtEl>
                                          <p:spTgt spid="2"/>
                                        </p:tgtEl>
                                      </p:cBhvr>
                                      <p:to x="100000" y="100000"/>
                                    </p:animScale>
                                    <p:animScale>
                                      <p:cBhvr>
                                        <p:cTn id="15" dur="7">
                                          <p:stCondLst>
                                            <p:cond delay="328"/>
                                          </p:stCondLst>
                                        </p:cTn>
                                        <p:tgtEl>
                                          <p:spTgt spid="2"/>
                                        </p:tgtEl>
                                      </p:cBhvr>
                                      <p:to x="100000" y="80000"/>
                                    </p:animScale>
                                    <p:animScale>
                                      <p:cBhvr>
                                        <p:cTn id="16" dur="41" decel="50000">
                                          <p:stCondLst>
                                            <p:cond delay="335"/>
                                          </p:stCondLst>
                                        </p:cTn>
                                        <p:tgtEl>
                                          <p:spTgt spid="2"/>
                                        </p:tgtEl>
                                      </p:cBhvr>
                                      <p:to x="100000" y="100000"/>
                                    </p:animScale>
                                    <p:animScale>
                                      <p:cBhvr>
                                        <p:cTn id="17" dur="7">
                                          <p:stCondLst>
                                            <p:cond delay="410"/>
                                          </p:stCondLst>
                                        </p:cTn>
                                        <p:tgtEl>
                                          <p:spTgt spid="2"/>
                                        </p:tgtEl>
                                      </p:cBhvr>
                                      <p:to x="100000" y="90000"/>
                                    </p:animScale>
                                    <p:animScale>
                                      <p:cBhvr>
                                        <p:cTn id="18" dur="41" decel="50000">
                                          <p:stCondLst>
                                            <p:cond delay="417"/>
                                          </p:stCondLst>
                                        </p:cTn>
                                        <p:tgtEl>
                                          <p:spTgt spid="2"/>
                                        </p:tgtEl>
                                      </p:cBhvr>
                                      <p:to x="100000" y="100000"/>
                                    </p:animScale>
                                    <p:animScale>
                                      <p:cBhvr>
                                        <p:cTn id="19" dur="7">
                                          <p:stCondLst>
                                            <p:cond delay="452"/>
                                          </p:stCondLst>
                                        </p:cTn>
                                        <p:tgtEl>
                                          <p:spTgt spid="2"/>
                                        </p:tgtEl>
                                      </p:cBhvr>
                                      <p:to x="100000" y="95000"/>
                                    </p:animScale>
                                    <p:animScale>
                                      <p:cBhvr>
                                        <p:cTn id="20" dur="41" decel="50000">
                                          <p:stCondLst>
                                            <p:cond delay="459"/>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latin typeface="Algerian" panose="04020705040A02060702" pitchFamily="82" charset="0"/>
              </a:rPr>
              <a:t>Sommaire</a:t>
            </a:r>
            <a:endParaRPr lang="fr-FR" dirty="0"/>
          </a:p>
        </p:txBody>
      </p:sp>
      <p:sp>
        <p:nvSpPr>
          <p:cNvPr id="3" name="Espace réservé du contenu 2"/>
          <p:cNvSpPr>
            <a:spLocks noGrp="1"/>
          </p:cNvSpPr>
          <p:nvPr>
            <p:ph idx="1"/>
          </p:nvPr>
        </p:nvSpPr>
        <p:spPr>
          <a:xfrm>
            <a:off x="1154954" y="2603500"/>
            <a:ext cx="8825659" cy="3843482"/>
          </a:xfrm>
        </p:spPr>
        <p:txBody>
          <a:bodyPr>
            <a:normAutofit fontScale="92500" lnSpcReduction="10000"/>
          </a:bodyPr>
          <a:lstStyle/>
          <a:p>
            <a:pPr>
              <a:buFont typeface="Wingdings" panose="05000000000000000000" pitchFamily="2" charset="2"/>
              <a:buChar char="Ø"/>
            </a:pPr>
            <a:r>
              <a:rPr lang="fr-FR" dirty="0"/>
              <a:t>Page de titre : Nom du projet, votre nom, classe, </a:t>
            </a:r>
            <a:r>
              <a:rPr lang="fr-FR" dirty="0" smtClean="0"/>
              <a:t>date</a:t>
            </a:r>
          </a:p>
          <a:p>
            <a:pPr>
              <a:buFont typeface="Wingdings" panose="05000000000000000000" pitchFamily="2" charset="2"/>
              <a:buChar char="Ø"/>
            </a:pPr>
            <a:r>
              <a:rPr lang="fr-FR" dirty="0"/>
              <a:t>Présentation du projet : contexte, objectif, public </a:t>
            </a:r>
            <a:r>
              <a:rPr lang="fr-FR" dirty="0" smtClean="0"/>
              <a:t>cible</a:t>
            </a:r>
          </a:p>
          <a:p>
            <a:pPr>
              <a:buFont typeface="Wingdings" panose="05000000000000000000" pitchFamily="2" charset="2"/>
              <a:buChar char="Ø"/>
            </a:pPr>
            <a:r>
              <a:rPr lang="fr-FR" dirty="0"/>
              <a:t>Choix de design : palette (codes hex), polices (justification), </a:t>
            </a:r>
            <a:r>
              <a:rPr lang="fr-FR" dirty="0" smtClean="0"/>
              <a:t>inspirations</a:t>
            </a:r>
          </a:p>
          <a:p>
            <a:pPr>
              <a:buFont typeface="Wingdings" panose="05000000000000000000" pitchFamily="2" charset="2"/>
              <a:buChar char="Ø"/>
            </a:pPr>
            <a:r>
              <a:rPr lang="fr-FR" dirty="0"/>
              <a:t>Architecture : arborescence, captures d'écran des </a:t>
            </a:r>
            <a:r>
              <a:rPr lang="fr-FR" dirty="0" smtClean="0"/>
              <a:t>pages</a:t>
            </a:r>
          </a:p>
          <a:p>
            <a:pPr>
              <a:buFont typeface="Wingdings" panose="05000000000000000000" pitchFamily="2" charset="2"/>
              <a:buChar char="Ø"/>
            </a:pPr>
            <a:r>
              <a:rPr lang="fr-FR" dirty="0"/>
              <a:t>Points techniques : JS (extraits de code + logique), Bootstrap (composants utilisés), CSS </a:t>
            </a:r>
            <a:r>
              <a:rPr lang="fr-FR" dirty="0" smtClean="0"/>
              <a:t>avancé</a:t>
            </a:r>
          </a:p>
          <a:p>
            <a:pPr>
              <a:buFont typeface="Wingdings" panose="05000000000000000000" pitchFamily="2" charset="2"/>
              <a:buChar char="Ø"/>
            </a:pPr>
            <a:r>
              <a:rPr lang="fr-FR" dirty="0"/>
              <a:t>GitHub : historique des commits, workflow Git, lien GitHub </a:t>
            </a:r>
            <a:r>
              <a:rPr lang="fr-FR" dirty="0" smtClean="0"/>
              <a:t>Page</a:t>
            </a:r>
          </a:p>
          <a:p>
            <a:pPr>
              <a:buFont typeface="Wingdings" panose="05000000000000000000" pitchFamily="2" charset="2"/>
              <a:buChar char="Ø"/>
            </a:pPr>
            <a:r>
              <a:rPr lang="fr-FR" dirty="0"/>
              <a:t>Difficultés rencontrées et solutions (minimum </a:t>
            </a:r>
            <a:r>
              <a:rPr lang="fr-FR" dirty="0" smtClean="0"/>
              <a:t>2)</a:t>
            </a:r>
          </a:p>
          <a:p>
            <a:pPr>
              <a:buFont typeface="Wingdings" panose="05000000000000000000" pitchFamily="2" charset="2"/>
              <a:buChar char="Ø"/>
            </a:pPr>
            <a:r>
              <a:rPr lang="fr-FR" dirty="0"/>
              <a:t>Ressources et documentation </a:t>
            </a:r>
            <a:r>
              <a:rPr lang="fr-FR" dirty="0" smtClean="0"/>
              <a:t>utilisées</a:t>
            </a:r>
          </a:p>
          <a:p>
            <a:pPr>
              <a:buFont typeface="Wingdings" panose="05000000000000000000" pitchFamily="2" charset="2"/>
              <a:buChar char="Ø"/>
            </a:pPr>
            <a:r>
              <a:rPr lang="fr-FR" dirty="0"/>
              <a:t>Démonstration live du </a:t>
            </a:r>
            <a:r>
              <a:rPr lang="fr-FR" dirty="0" smtClean="0"/>
              <a:t>site</a:t>
            </a:r>
          </a:p>
          <a:p>
            <a:pPr>
              <a:buFont typeface="Wingdings" panose="05000000000000000000" pitchFamily="2" charset="2"/>
              <a:buChar char="Ø"/>
            </a:pPr>
            <a:r>
              <a:rPr lang="fr-FR" dirty="0"/>
              <a:t>Conclusion et perspectives </a:t>
            </a:r>
            <a:r>
              <a:rPr lang="fr-FR" dirty="0" smtClean="0"/>
              <a:t>d'amélioration</a:t>
            </a:r>
            <a:endParaRPr lang="fr-FR" dirty="0"/>
          </a:p>
        </p:txBody>
      </p:sp>
    </p:spTree>
    <p:extLst>
      <p:ext uri="{BB962C8B-B14F-4D97-AF65-F5344CB8AC3E}">
        <p14:creationId xmlns:p14="http://schemas.microsoft.com/office/powerpoint/2010/main" val="2743806577"/>
      </p:ext>
    </p:extLst>
  </p:cSld>
  <p:clrMapOvr>
    <a:masterClrMapping/>
  </p:clrMapOvr>
  <p:transition>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45">
                                          <p:stCondLst>
                                            <p:cond delay="0"/>
                                          </p:stCondLst>
                                        </p:cTn>
                                        <p:tgtEl>
                                          <p:spTgt spid="2"/>
                                        </p:tgtEl>
                                      </p:cBhvr>
                                    </p:animEffect>
                                    <p:anim calcmode="lin" valueType="num">
                                      <p:cBhvr>
                                        <p:cTn id="8" dur="456" tmFilter="0,0; 0.14,0.36; 0.43,0.73; 0.71,0.91; 1.0,1.0">
                                          <p:stCondLst>
                                            <p:cond delay="0"/>
                                          </p:stCondLst>
                                        </p:cTn>
                                        <p:tgtEl>
                                          <p:spTgt spid="2"/>
                                        </p:tgtEl>
                                        <p:attrNameLst>
                                          <p:attrName>ppt_x</p:attrName>
                                        </p:attrNameLst>
                                      </p:cBhvr>
                                      <p:tavLst>
                                        <p:tav tm="0">
                                          <p:val>
                                            <p:strVal val="#ppt_x-0.25"/>
                                          </p:val>
                                        </p:tav>
                                        <p:tav tm="100000">
                                          <p:val>
                                            <p:strVal val="#ppt_x"/>
                                          </p:val>
                                        </p:tav>
                                      </p:tavLst>
                                    </p:anim>
                                    <p:anim calcmode="lin" valueType="num">
                                      <p:cBhvr>
                                        <p:cTn id="9" dur="166" tmFilter="0.0,0.0; 0.25,0.07; 0.50,0.2; 0.75,0.467; 1.0,1.0">
                                          <p:stCondLst>
                                            <p:cond delay="0"/>
                                          </p:stCondLst>
                                        </p:cTn>
                                        <p:tgtEl>
                                          <p:spTgt spid="2"/>
                                        </p:tgtEl>
                                        <p:attrNameLst>
                                          <p:attrName>ppt_y</p:attrName>
                                        </p:attrNameLst>
                                      </p:cBhvr>
                                      <p:tavLst>
                                        <p:tav tm="0" fmla="#ppt_y-sin(pi*$)/3">
                                          <p:val>
                                            <p:fltVal val="0.5"/>
                                          </p:val>
                                        </p:tav>
                                        <p:tav tm="100000">
                                          <p:val>
                                            <p:fltVal val="1"/>
                                          </p:val>
                                        </p:tav>
                                      </p:tavLst>
                                    </p:anim>
                                    <p:anim calcmode="lin" valueType="num">
                                      <p:cBhvr>
                                        <p:cTn id="10" dur="166" tmFilter="0, 0; 0.125,0.2665; 0.25,0.4; 0.375,0.465; 0.5,0.5;  0.625,0.535; 0.75,0.6; 0.875,0.7335; 1,1">
                                          <p:stCondLst>
                                            <p:cond delay="166"/>
                                          </p:stCondLst>
                                        </p:cTn>
                                        <p:tgtEl>
                                          <p:spTgt spid="2"/>
                                        </p:tgtEl>
                                        <p:attrNameLst>
                                          <p:attrName>ppt_y</p:attrName>
                                        </p:attrNameLst>
                                      </p:cBhvr>
                                      <p:tavLst>
                                        <p:tav tm="0" fmla="#ppt_y-sin(pi*$)/9">
                                          <p:val>
                                            <p:fltVal val="0"/>
                                          </p:val>
                                        </p:tav>
                                        <p:tav tm="100000">
                                          <p:val>
                                            <p:fltVal val="1"/>
                                          </p:val>
                                        </p:tav>
                                      </p:tavLst>
                                    </p:anim>
                                    <p:anim calcmode="lin" valueType="num">
                                      <p:cBhvr>
                                        <p:cTn id="11" dur="83" tmFilter="0, 0; 0.125,0.2665; 0.25,0.4; 0.375,0.465; 0.5,0.5;  0.625,0.535; 0.75,0.6; 0.875,0.7335; 1,1">
                                          <p:stCondLst>
                                            <p:cond delay="331"/>
                                          </p:stCondLst>
                                        </p:cTn>
                                        <p:tgtEl>
                                          <p:spTgt spid="2"/>
                                        </p:tgtEl>
                                        <p:attrNameLst>
                                          <p:attrName>ppt_y</p:attrName>
                                        </p:attrNameLst>
                                      </p:cBhvr>
                                      <p:tavLst>
                                        <p:tav tm="0" fmla="#ppt_y-sin(pi*$)/27">
                                          <p:val>
                                            <p:fltVal val="0"/>
                                          </p:val>
                                        </p:tav>
                                        <p:tav tm="100000">
                                          <p:val>
                                            <p:fltVal val="1"/>
                                          </p:val>
                                        </p:tav>
                                      </p:tavLst>
                                    </p:anim>
                                    <p:anim calcmode="lin" valueType="num">
                                      <p:cBhvr>
                                        <p:cTn id="12" dur="41" tmFilter="0, 0; 0.125,0.2665; 0.25,0.4; 0.375,0.465; 0.5,0.5;  0.625,0.535; 0.75,0.6; 0.875,0.7335; 1,1">
                                          <p:stCondLst>
                                            <p:cond delay="414"/>
                                          </p:stCondLst>
                                        </p:cTn>
                                        <p:tgtEl>
                                          <p:spTgt spid="2"/>
                                        </p:tgtEl>
                                        <p:attrNameLst>
                                          <p:attrName>ppt_y</p:attrName>
                                        </p:attrNameLst>
                                      </p:cBhvr>
                                      <p:tavLst>
                                        <p:tav tm="0" fmla="#ppt_y-sin(pi*$)/81">
                                          <p:val>
                                            <p:fltVal val="0"/>
                                          </p:val>
                                        </p:tav>
                                        <p:tav tm="100000">
                                          <p:val>
                                            <p:fltVal val="1"/>
                                          </p:val>
                                        </p:tav>
                                      </p:tavLst>
                                    </p:anim>
                                    <p:animScale>
                                      <p:cBhvr>
                                        <p:cTn id="13" dur="7">
                                          <p:stCondLst>
                                            <p:cond delay="162"/>
                                          </p:stCondLst>
                                        </p:cTn>
                                        <p:tgtEl>
                                          <p:spTgt spid="2"/>
                                        </p:tgtEl>
                                      </p:cBhvr>
                                      <p:to x="100000" y="60000"/>
                                    </p:animScale>
                                    <p:animScale>
                                      <p:cBhvr>
                                        <p:cTn id="14" dur="41" decel="50000">
                                          <p:stCondLst>
                                            <p:cond delay="169"/>
                                          </p:stCondLst>
                                        </p:cTn>
                                        <p:tgtEl>
                                          <p:spTgt spid="2"/>
                                        </p:tgtEl>
                                      </p:cBhvr>
                                      <p:to x="100000" y="100000"/>
                                    </p:animScale>
                                    <p:animScale>
                                      <p:cBhvr>
                                        <p:cTn id="15" dur="7">
                                          <p:stCondLst>
                                            <p:cond delay="328"/>
                                          </p:stCondLst>
                                        </p:cTn>
                                        <p:tgtEl>
                                          <p:spTgt spid="2"/>
                                        </p:tgtEl>
                                      </p:cBhvr>
                                      <p:to x="100000" y="80000"/>
                                    </p:animScale>
                                    <p:animScale>
                                      <p:cBhvr>
                                        <p:cTn id="16" dur="41" decel="50000">
                                          <p:stCondLst>
                                            <p:cond delay="335"/>
                                          </p:stCondLst>
                                        </p:cTn>
                                        <p:tgtEl>
                                          <p:spTgt spid="2"/>
                                        </p:tgtEl>
                                      </p:cBhvr>
                                      <p:to x="100000" y="100000"/>
                                    </p:animScale>
                                    <p:animScale>
                                      <p:cBhvr>
                                        <p:cTn id="17" dur="7">
                                          <p:stCondLst>
                                            <p:cond delay="410"/>
                                          </p:stCondLst>
                                        </p:cTn>
                                        <p:tgtEl>
                                          <p:spTgt spid="2"/>
                                        </p:tgtEl>
                                      </p:cBhvr>
                                      <p:to x="100000" y="90000"/>
                                    </p:animScale>
                                    <p:animScale>
                                      <p:cBhvr>
                                        <p:cTn id="18" dur="41" decel="50000">
                                          <p:stCondLst>
                                            <p:cond delay="417"/>
                                          </p:stCondLst>
                                        </p:cTn>
                                        <p:tgtEl>
                                          <p:spTgt spid="2"/>
                                        </p:tgtEl>
                                      </p:cBhvr>
                                      <p:to x="100000" y="100000"/>
                                    </p:animScale>
                                    <p:animScale>
                                      <p:cBhvr>
                                        <p:cTn id="19" dur="7">
                                          <p:stCondLst>
                                            <p:cond delay="452"/>
                                          </p:stCondLst>
                                        </p:cTn>
                                        <p:tgtEl>
                                          <p:spTgt spid="2"/>
                                        </p:tgtEl>
                                      </p:cBhvr>
                                      <p:to x="100000" y="95000"/>
                                    </p:animScale>
                                    <p:animScale>
                                      <p:cBhvr>
                                        <p:cTn id="20" dur="41" decel="50000">
                                          <p:stCondLst>
                                            <p:cond delay="459"/>
                                          </p:stCondLst>
                                        </p:cTn>
                                        <p:tgtEl>
                                          <p:spTgt spid="2"/>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latin typeface="Algerian" panose="04020705040A02060702" pitchFamily="82" charset="0"/>
              </a:rPr>
              <a:t>Présentation du projet</a:t>
            </a:r>
            <a:endParaRPr lang="fr-FR" dirty="0"/>
          </a:p>
        </p:txBody>
      </p:sp>
      <p:sp>
        <p:nvSpPr>
          <p:cNvPr id="3" name="Espace réservé du contenu 2"/>
          <p:cNvSpPr>
            <a:spLocks noGrp="1"/>
          </p:cNvSpPr>
          <p:nvPr>
            <p:ph idx="1"/>
          </p:nvPr>
        </p:nvSpPr>
        <p:spPr/>
        <p:txBody>
          <a:bodyPr/>
          <a:lstStyle/>
          <a:p>
            <a:r>
              <a:rPr lang="fr-FR" dirty="0"/>
              <a:t>AFRITALENT est une plateforme numérique qui a pour objectif de mettre en relation les talents africains avec des entreprises et des clients à travers le monde. Le projet vise à valoriser les compétences africaines dans plusieurs domaines tels que développement web, le design graphique, le marketing digital, la rédaction, et bien d’autres services numérique</a:t>
            </a:r>
          </a:p>
          <a:p>
            <a:endParaRPr lang="fr-FR" dirty="0"/>
          </a:p>
          <a:p>
            <a:r>
              <a:rPr lang="fr-FR" dirty="0"/>
              <a:t>Le projet s’inscrit dans une démarche de transformation numérique et de développement économique du continent en offrant d’avantage d’opportunités professionnelles aux jeunes africains. Son ambition est de devenir une  référence pour l’emploi et la collaboration professionnelle en Afrique</a:t>
            </a:r>
          </a:p>
          <a:p>
            <a:endParaRPr lang="fr-FR" dirty="0"/>
          </a:p>
        </p:txBody>
      </p:sp>
    </p:spTree>
    <p:extLst>
      <p:ext uri="{BB962C8B-B14F-4D97-AF65-F5344CB8AC3E}">
        <p14:creationId xmlns:p14="http://schemas.microsoft.com/office/powerpoint/2010/main" val="1728086736"/>
      </p:ext>
    </p:extLst>
  </p:cSld>
  <p:clrMapOvr>
    <a:masterClrMapping/>
  </p:clrMapOvr>
  <p:transition>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barn(inVertical)">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barn(inVertical)">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latin typeface="Algerian" panose="04020705040A02060702" pitchFamily="82" charset="0"/>
              </a:rPr>
              <a:t>CHOIX DE DESIGN</a:t>
            </a:r>
            <a:endParaRPr lang="fr-FR" dirty="0"/>
          </a:p>
        </p:txBody>
      </p:sp>
      <p:sp>
        <p:nvSpPr>
          <p:cNvPr id="3" name="Espace réservé du contenu 2"/>
          <p:cNvSpPr>
            <a:spLocks noGrp="1"/>
          </p:cNvSpPr>
          <p:nvPr>
            <p:ph idx="1"/>
          </p:nvPr>
        </p:nvSpPr>
        <p:spPr>
          <a:xfrm>
            <a:off x="822036" y="2603500"/>
            <a:ext cx="9158577" cy="3751118"/>
          </a:xfrm>
        </p:spPr>
        <p:txBody>
          <a:bodyPr>
            <a:normAutofit/>
          </a:bodyPr>
          <a:lstStyle/>
          <a:p>
            <a:pPr marL="0" indent="0">
              <a:buNone/>
            </a:pPr>
            <a:r>
              <a:rPr lang="fr-FR" dirty="0"/>
              <a:t>Palette de couleurs</a:t>
            </a:r>
          </a:p>
          <a:p>
            <a:r>
              <a:rPr lang="fr-FR" dirty="0"/>
              <a:t>Pour la couleur primaire j’ai choisi #dee2e6 un gris très clair</a:t>
            </a:r>
          </a:p>
          <a:p>
            <a:r>
              <a:rPr lang="fr-FR" dirty="0"/>
              <a:t>#f8edeb un rose beige très pale et doux pour la couleur secondaire</a:t>
            </a:r>
          </a:p>
          <a:p>
            <a:r>
              <a:rPr lang="fr-FR" dirty="0"/>
              <a:t>#0f1213 un noir utilisé pour le pied de page , texte du menu …</a:t>
            </a:r>
          </a:p>
          <a:p>
            <a:pPr marL="0" indent="0">
              <a:buNone/>
            </a:pPr>
            <a:r>
              <a:rPr lang="fr-FR" dirty="0"/>
              <a:t>Police d ’écriture</a:t>
            </a:r>
          </a:p>
          <a:p>
            <a:pPr marL="0" indent="0">
              <a:buNone/>
            </a:pPr>
            <a:r>
              <a:rPr lang="fr-FR" dirty="0"/>
              <a:t>J’ai choisi poppins,serif , time new romance</a:t>
            </a:r>
          </a:p>
          <a:p>
            <a:pPr marL="0" indent="0">
              <a:buNone/>
            </a:pPr>
            <a:r>
              <a:rPr lang="fr-FR" dirty="0"/>
              <a:t>Inspiration de design</a:t>
            </a:r>
          </a:p>
          <a:p>
            <a:pPr marL="0" indent="0">
              <a:buNone/>
            </a:pPr>
            <a:r>
              <a:rPr lang="fr-FR" dirty="0"/>
              <a:t>L’association de nuances clair et douces avec un contraste sombre très marqué évoque un design épuré élégant et souvent utilise pour des portfolio des blogs de mode ou des sites de marques premium</a:t>
            </a:r>
          </a:p>
        </p:txBody>
      </p:sp>
    </p:spTree>
    <p:extLst>
      <p:ext uri="{BB962C8B-B14F-4D97-AF65-F5344CB8AC3E}">
        <p14:creationId xmlns:p14="http://schemas.microsoft.com/office/powerpoint/2010/main" val="878246872"/>
      </p:ext>
    </p:extLst>
  </p:cSld>
  <p:clrMapOvr>
    <a:masterClrMapping/>
  </p:clrMapOvr>
  <p:transition>
    <p:wheel spokes="1"/>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latin typeface="Algerian" panose="04020705040A02060702" pitchFamily="82" charset="0"/>
              </a:rPr>
              <a:t>Architecture </a:t>
            </a:r>
            <a:endParaRPr lang="fr-FR" dirty="0"/>
          </a:p>
        </p:txBody>
      </p:sp>
      <p:sp>
        <p:nvSpPr>
          <p:cNvPr id="3" name="Espace réservé du contenu 2"/>
          <p:cNvSpPr>
            <a:spLocks noGrp="1"/>
          </p:cNvSpPr>
          <p:nvPr>
            <p:ph idx="1"/>
          </p:nvPr>
        </p:nvSpPr>
        <p:spPr>
          <a:xfrm>
            <a:off x="267855" y="2124363"/>
            <a:ext cx="9712759" cy="4599709"/>
          </a:xfrm>
        </p:spPr>
        <p:txBody>
          <a:bodyPr>
            <a:normAutofit fontScale="32500" lnSpcReduction="20000"/>
          </a:bodyPr>
          <a:lstStyle/>
          <a:p>
            <a:pPr marL="0" indent="0">
              <a:buNone/>
            </a:pPr>
            <a:r>
              <a:rPr lang="fr-FR" dirty="0" smtClean="0"/>
              <a:t>�   </a:t>
            </a:r>
            <a:r>
              <a:rPr lang="fr-FR" dirty="0"/>
              <a:t>aborescence.txt</a:t>
            </a:r>
          </a:p>
          <a:p>
            <a:pPr marL="0" indent="0">
              <a:buNone/>
            </a:pPr>
            <a:r>
              <a:rPr lang="fr-FR" sz="2600" b="1" i="1" dirty="0"/>
              <a:t>�   About.html</a:t>
            </a:r>
          </a:p>
          <a:p>
            <a:pPr marL="0" indent="0">
              <a:buNone/>
            </a:pPr>
            <a:r>
              <a:rPr lang="fr-FR" sz="2600" b="1" i="1" dirty="0"/>
              <a:t>�   Contact.html</a:t>
            </a:r>
          </a:p>
          <a:p>
            <a:pPr marL="0" indent="0">
              <a:buNone/>
            </a:pPr>
            <a:r>
              <a:rPr lang="fr-FR" sz="2600" b="1" i="1" dirty="0"/>
              <a:t>�   Freelances.html</a:t>
            </a:r>
          </a:p>
          <a:p>
            <a:pPr marL="0" indent="0">
              <a:buNone/>
            </a:pPr>
            <a:r>
              <a:rPr lang="fr-FR" sz="2600" b="1" i="1" dirty="0"/>
              <a:t>�   index.html</a:t>
            </a:r>
          </a:p>
          <a:p>
            <a:pPr marL="0" indent="0">
              <a:buNone/>
            </a:pPr>
            <a:r>
              <a:rPr lang="fr-FR" sz="2600" b="1" i="1" dirty="0"/>
              <a:t>�   Tarifs.html</a:t>
            </a:r>
          </a:p>
          <a:p>
            <a:pPr marL="0" indent="0">
              <a:buNone/>
            </a:pPr>
            <a:r>
              <a:rPr lang="fr-FR" sz="2600" b="1" i="1" dirty="0"/>
              <a:t>�   </a:t>
            </a:r>
          </a:p>
          <a:p>
            <a:pPr marL="0" indent="0">
              <a:buNone/>
            </a:pPr>
            <a:r>
              <a:rPr lang="fr-FR" sz="2600" b="1" i="1" dirty="0"/>
              <a:t>+---css</a:t>
            </a:r>
          </a:p>
          <a:p>
            <a:pPr marL="0" indent="0">
              <a:buNone/>
            </a:pPr>
            <a:r>
              <a:rPr lang="fr-FR" sz="2600" b="1" i="1" dirty="0"/>
              <a:t>�   �   style.css</a:t>
            </a:r>
          </a:p>
          <a:p>
            <a:pPr marL="0" indent="0">
              <a:buNone/>
            </a:pPr>
            <a:r>
              <a:rPr lang="fr-FR" sz="2600" b="1" i="1" dirty="0"/>
              <a:t>�   �   </a:t>
            </a:r>
          </a:p>
          <a:p>
            <a:pPr marL="0" indent="0">
              <a:buNone/>
            </a:pPr>
            <a:r>
              <a:rPr lang="fr-FR" sz="2600" b="1" i="1" dirty="0"/>
              <a:t>�   +---js</a:t>
            </a:r>
          </a:p>
          <a:p>
            <a:pPr marL="0" indent="0">
              <a:buNone/>
            </a:pPr>
            <a:r>
              <a:rPr lang="fr-FR" sz="2600" b="1" i="1" dirty="0"/>
              <a:t>�           .gitignore</a:t>
            </a:r>
          </a:p>
          <a:p>
            <a:pPr marL="0" indent="0">
              <a:buNone/>
            </a:pPr>
            <a:r>
              <a:rPr lang="fr-FR" sz="2600" b="1" i="1" dirty="0"/>
              <a:t>�           main.js</a:t>
            </a:r>
          </a:p>
          <a:p>
            <a:pPr marL="0" indent="0">
              <a:buNone/>
            </a:pPr>
            <a:r>
              <a:rPr lang="fr-FR" sz="2600" b="1" i="1" dirty="0"/>
              <a:t>�           README.md</a:t>
            </a:r>
          </a:p>
          <a:p>
            <a:pPr marL="0" indent="0">
              <a:buNone/>
            </a:pPr>
            <a:r>
              <a:rPr lang="fr-FR" sz="2600" b="1" i="1" dirty="0"/>
              <a:t>�           </a:t>
            </a:r>
          </a:p>
          <a:p>
            <a:pPr marL="0" indent="0">
              <a:buNone/>
            </a:pPr>
            <a:r>
              <a:rPr lang="fr-FR" sz="2600" b="1" i="1" dirty="0"/>
              <a:t>+---Docs</a:t>
            </a:r>
          </a:p>
          <a:p>
            <a:pPr marL="0" indent="0">
              <a:buNone/>
            </a:pPr>
            <a:r>
              <a:rPr lang="fr-FR" sz="2600" b="1" i="1" dirty="0"/>
              <a:t>�       cisse_ndeye_sokhna.pptx</a:t>
            </a:r>
          </a:p>
          <a:p>
            <a:pPr marL="0" indent="0">
              <a:buNone/>
            </a:pPr>
            <a:r>
              <a:rPr lang="fr-FR" sz="2600" b="1" i="1" dirty="0"/>
              <a:t>�       </a:t>
            </a:r>
          </a:p>
          <a:p>
            <a:pPr marL="0" indent="0">
              <a:buNone/>
            </a:pPr>
            <a:r>
              <a:rPr lang="fr-FR" sz="2600" b="1" i="1" dirty="0"/>
              <a:t>+---images</a:t>
            </a:r>
          </a:p>
          <a:p>
            <a:pPr marL="0" indent="0">
              <a:buNone/>
            </a:pPr>
            <a:r>
              <a:rPr lang="fr-FR" dirty="0"/>
              <a:t>        </a:t>
            </a:r>
          </a:p>
        </p:txBody>
      </p:sp>
    </p:spTree>
    <p:extLst>
      <p:ext uri="{BB962C8B-B14F-4D97-AF65-F5344CB8AC3E}">
        <p14:creationId xmlns:p14="http://schemas.microsoft.com/office/powerpoint/2010/main" val="4289579737"/>
      </p:ext>
    </p:extLst>
  </p:cSld>
  <p:clrMapOvr>
    <a:masterClrMapping/>
  </p:clrMapOvr>
  <p:transition>
    <p:wheel spokes="1"/>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Capture d’écran des pages</a:t>
            </a:r>
            <a:endParaRPr lang="fr-FR" dirty="0"/>
          </a:p>
        </p:txBody>
      </p:sp>
      <p:pic>
        <p:nvPicPr>
          <p:cNvPr id="4" name="Espace réservé du contenu 3"/>
          <p:cNvPicPr>
            <a:picLocks noGrp="1" noChangeAspect="1"/>
          </p:cNvPicPr>
          <p:nvPr>
            <p:ph idx="1"/>
          </p:nvPr>
        </p:nvPicPr>
        <p:blipFill>
          <a:blip r:embed="rId2"/>
          <a:stretch>
            <a:fillRect/>
          </a:stretch>
        </p:blipFill>
        <p:spPr>
          <a:xfrm>
            <a:off x="341746" y="1969554"/>
            <a:ext cx="1477818" cy="4538464"/>
          </a:xfrm>
          <a:prstGeom prst="rect">
            <a:avLst/>
          </a:prstGeom>
        </p:spPr>
      </p:pic>
      <p:pic>
        <p:nvPicPr>
          <p:cNvPr id="5" name="Image 4"/>
          <p:cNvPicPr>
            <a:picLocks noChangeAspect="1"/>
          </p:cNvPicPr>
          <p:nvPr/>
        </p:nvPicPr>
        <p:blipFill>
          <a:blip r:embed="rId3"/>
          <a:stretch>
            <a:fillRect/>
          </a:stretch>
        </p:blipFill>
        <p:spPr>
          <a:xfrm>
            <a:off x="2398796" y="2244436"/>
            <a:ext cx="2141040" cy="4613564"/>
          </a:xfrm>
          <a:prstGeom prst="rect">
            <a:avLst/>
          </a:prstGeom>
        </p:spPr>
      </p:pic>
      <p:pic>
        <p:nvPicPr>
          <p:cNvPr id="6" name="Image 5"/>
          <p:cNvPicPr>
            <a:picLocks noChangeAspect="1"/>
          </p:cNvPicPr>
          <p:nvPr/>
        </p:nvPicPr>
        <p:blipFill>
          <a:blip r:embed="rId4"/>
          <a:stretch>
            <a:fillRect/>
          </a:stretch>
        </p:blipFill>
        <p:spPr>
          <a:xfrm>
            <a:off x="4996874" y="2244436"/>
            <a:ext cx="2346035" cy="4396509"/>
          </a:xfrm>
          <a:prstGeom prst="rect">
            <a:avLst/>
          </a:prstGeom>
        </p:spPr>
      </p:pic>
      <p:pic>
        <p:nvPicPr>
          <p:cNvPr id="7" name="Image 6"/>
          <p:cNvPicPr>
            <a:picLocks noChangeAspect="1"/>
          </p:cNvPicPr>
          <p:nvPr/>
        </p:nvPicPr>
        <p:blipFill>
          <a:blip r:embed="rId5"/>
          <a:stretch>
            <a:fillRect/>
          </a:stretch>
        </p:blipFill>
        <p:spPr>
          <a:xfrm>
            <a:off x="7799947" y="2244436"/>
            <a:ext cx="1770292" cy="4412095"/>
          </a:xfrm>
          <a:prstGeom prst="rect">
            <a:avLst/>
          </a:prstGeom>
        </p:spPr>
      </p:pic>
      <p:pic>
        <p:nvPicPr>
          <p:cNvPr id="8" name="Image 7"/>
          <p:cNvPicPr>
            <a:picLocks noChangeAspect="1"/>
          </p:cNvPicPr>
          <p:nvPr/>
        </p:nvPicPr>
        <p:blipFill>
          <a:blip r:embed="rId6"/>
          <a:stretch>
            <a:fillRect/>
          </a:stretch>
        </p:blipFill>
        <p:spPr>
          <a:xfrm>
            <a:off x="9761385" y="2244436"/>
            <a:ext cx="2300554" cy="4263582"/>
          </a:xfrm>
          <a:prstGeom prst="rect">
            <a:avLst/>
          </a:prstGeom>
        </p:spPr>
      </p:pic>
    </p:spTree>
    <p:extLst>
      <p:ext uri="{BB962C8B-B14F-4D97-AF65-F5344CB8AC3E}">
        <p14:creationId xmlns:p14="http://schemas.microsoft.com/office/powerpoint/2010/main" val="2460942735"/>
      </p:ext>
    </p:extLst>
  </p:cSld>
  <p:clrMapOvr>
    <a:masterClrMapping/>
  </p:clrMapOvr>
  <p:transition>
    <p:wheel spokes="1"/>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Point technique java</a:t>
            </a:r>
            <a:endParaRPr lang="fr-FR" dirty="0"/>
          </a:p>
        </p:txBody>
      </p:sp>
      <p:sp>
        <p:nvSpPr>
          <p:cNvPr id="3" name="Espace réservé du contenu 2"/>
          <p:cNvSpPr>
            <a:spLocks noGrp="1"/>
          </p:cNvSpPr>
          <p:nvPr>
            <p:ph idx="1"/>
          </p:nvPr>
        </p:nvSpPr>
        <p:spPr/>
        <p:txBody>
          <a:bodyPr/>
          <a:lstStyle/>
          <a:p>
            <a:r>
              <a:rPr lang="fr-FR" dirty="0"/>
              <a:t>dark mode avec </a:t>
            </a:r>
            <a:r>
              <a:rPr lang="fr-FR" dirty="0" smtClean="0"/>
              <a:t>localStorage</a:t>
            </a:r>
          </a:p>
          <a:p>
            <a:pPr marL="0" indent="0">
              <a:buNone/>
            </a:pPr>
            <a:r>
              <a:rPr lang="fr-FR" dirty="0" smtClean="0"/>
              <a:t>Le script récupère le bouton html de la page(ID theme-toggle).Il vérifie dans le navigateur(</a:t>
            </a:r>
            <a:r>
              <a:rPr lang="fr-FR" dirty="0" err="1" smtClean="0"/>
              <a:t>localstorage</a:t>
            </a:r>
            <a:r>
              <a:rPr lang="fr-FR" dirty="0" smtClean="0"/>
              <a:t>)si l’utilisateur avait déjà choisi le mode (dark)lors d’une ancienne visite. Si tel est le cas il applique le thème sombre en ajoutant l’attribut data-</a:t>
            </a:r>
            <a:r>
              <a:rPr lang="fr-FR" dirty="0" err="1" smtClean="0"/>
              <a:t>theme</a:t>
            </a:r>
            <a:r>
              <a:rPr lang="fr-FR" dirty="0" smtClean="0"/>
              <a:t>=‘dark’ sur la balise principale html</a:t>
            </a:r>
          </a:p>
          <a:p>
            <a:pPr>
              <a:buFont typeface="Wingdings" panose="05000000000000000000" pitchFamily="2" charset="2"/>
              <a:buChar char="Ø"/>
            </a:pPr>
            <a:r>
              <a:rPr lang="fr-FR" dirty="0"/>
              <a:t>compteurs animés au scroll et animations fade-in des </a:t>
            </a:r>
            <a:r>
              <a:rPr lang="fr-FR" dirty="0" smtClean="0"/>
              <a:t>sections</a:t>
            </a:r>
          </a:p>
          <a:p>
            <a:pPr>
              <a:buFont typeface="Wingdings" panose="05000000000000000000" pitchFamily="2" charset="2"/>
              <a:buChar char="Ø"/>
            </a:pPr>
            <a:r>
              <a:rPr lang="fr-FR" dirty="0"/>
              <a:t>filtrage dynamique des freelances et validation du formulaire de </a:t>
            </a:r>
            <a:r>
              <a:rPr lang="fr-FR" dirty="0" smtClean="0"/>
              <a:t>contact</a:t>
            </a:r>
          </a:p>
          <a:p>
            <a:pPr>
              <a:buFont typeface="Wingdings" panose="05000000000000000000" pitchFamily="2" charset="2"/>
              <a:buChar char="Ø"/>
            </a:pPr>
            <a:endParaRPr lang="fr-FR" dirty="0" smtClean="0"/>
          </a:p>
        </p:txBody>
      </p:sp>
    </p:spTree>
    <p:extLst>
      <p:ext uri="{BB962C8B-B14F-4D97-AF65-F5344CB8AC3E}">
        <p14:creationId xmlns:p14="http://schemas.microsoft.com/office/powerpoint/2010/main" val="1453047906"/>
      </p:ext>
    </p:extLst>
  </p:cSld>
  <p:clrMapOvr>
    <a:masterClrMapping/>
  </p:clrMapOvr>
  <p:transition>
    <p:wheel spokes="1"/>
  </p:transition>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Point technique bootstrap et css</a:t>
            </a:r>
            <a:endParaRPr lang="fr-FR" dirty="0"/>
          </a:p>
        </p:txBody>
      </p:sp>
      <p:sp>
        <p:nvSpPr>
          <p:cNvPr id="3" name="Espace réservé du contenu 2"/>
          <p:cNvSpPr>
            <a:spLocks noGrp="1"/>
          </p:cNvSpPr>
          <p:nvPr>
            <p:ph idx="1"/>
          </p:nvPr>
        </p:nvSpPr>
        <p:spPr/>
        <p:txBody>
          <a:bodyPr/>
          <a:lstStyle/>
          <a:p>
            <a:r>
              <a:rPr lang="fr-FR" dirty="0"/>
              <a:t>Le système de la grille: utilisation des classes container, row et col-md pour créer une structure fluide qui aligne automatiquement les sections</a:t>
            </a:r>
          </a:p>
          <a:p>
            <a:r>
              <a:rPr lang="fr-FR" dirty="0"/>
              <a:t>Les cartes: emploi du composant card avec card-</a:t>
            </a:r>
            <a:r>
              <a:rPr lang="fr-FR" dirty="0" err="1"/>
              <a:t>img</a:t>
            </a:r>
            <a:r>
              <a:rPr lang="fr-FR" dirty="0"/>
              <a:t>-top et card-body pour structurer proprement les encadrés d’informations</a:t>
            </a:r>
          </a:p>
          <a:p>
            <a:pPr marL="0" indent="0">
              <a:buNone/>
            </a:pPr>
            <a:r>
              <a:rPr lang="fr-FR" dirty="0"/>
              <a:t>CSS</a:t>
            </a:r>
          </a:p>
          <a:p>
            <a:r>
              <a:rPr lang="fr-FR" dirty="0"/>
              <a:t>Les variables css: déclaration des couleurs dans :root, :nth-child pour cibler et styliser les éléments précis des cartes ou du liste de navigation sans avoir à ajouter des dizaines de classes inutiles</a:t>
            </a:r>
            <a:endParaRPr lang="fr-FR" dirty="0"/>
          </a:p>
        </p:txBody>
      </p:sp>
    </p:spTree>
    <p:extLst>
      <p:ext uri="{BB962C8B-B14F-4D97-AF65-F5344CB8AC3E}">
        <p14:creationId xmlns:p14="http://schemas.microsoft.com/office/powerpoint/2010/main" val="3469837098"/>
      </p:ext>
    </p:extLst>
  </p:cSld>
  <p:clrMapOvr>
    <a:masterClrMapping/>
  </p:clrMapOvr>
  <p:transition>
    <p:wheel spokes="1"/>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Historique GitHub</a:t>
            </a:r>
            <a:endParaRPr lang="fr-FR" dirty="0"/>
          </a:p>
        </p:txBody>
      </p:sp>
      <p:pic>
        <p:nvPicPr>
          <p:cNvPr id="4" name="Espace réservé du contenu 3"/>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0" y="2410692"/>
            <a:ext cx="7456581" cy="4294908"/>
          </a:xfrm>
        </p:spPr>
      </p:pic>
      <p:pic>
        <p:nvPicPr>
          <p:cNvPr id="5" name="Imag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93372" y="2798617"/>
            <a:ext cx="7425973" cy="3731491"/>
          </a:xfrm>
          <a:prstGeom prst="rect">
            <a:avLst/>
          </a:prstGeom>
        </p:spPr>
      </p:pic>
    </p:spTree>
    <p:extLst>
      <p:ext uri="{BB962C8B-B14F-4D97-AF65-F5344CB8AC3E}">
        <p14:creationId xmlns:p14="http://schemas.microsoft.com/office/powerpoint/2010/main" val="66868963"/>
      </p:ext>
    </p:extLst>
  </p:cSld>
  <p:clrMapOvr>
    <a:masterClrMapping/>
  </p:clrMapOvr>
  <p:transition>
    <p:wheel spokes="1"/>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Workflow git et lien GitHub page</a:t>
            </a:r>
            <a:endParaRPr lang="fr-FR" dirty="0"/>
          </a:p>
        </p:txBody>
      </p:sp>
      <p:sp>
        <p:nvSpPr>
          <p:cNvPr id="3" name="Espace réservé du contenu 2"/>
          <p:cNvSpPr>
            <a:spLocks noGrp="1"/>
          </p:cNvSpPr>
          <p:nvPr>
            <p:ph idx="1"/>
          </p:nvPr>
        </p:nvSpPr>
        <p:spPr/>
        <p:txBody>
          <a:bodyPr/>
          <a:lstStyle/>
          <a:p>
            <a:r>
              <a:rPr lang="fr-FR" dirty="0" smtClean="0"/>
              <a:t>Dépôt local :</a:t>
            </a:r>
            <a:r>
              <a:rPr lang="fr-FR" dirty="0"/>
              <a:t>: gestion du code en local avec les commandes git add</a:t>
            </a:r>
            <a:r>
              <a:rPr lang="fr-FR" dirty="0" smtClean="0"/>
              <a:t>.</a:t>
            </a:r>
          </a:p>
          <a:p>
            <a:r>
              <a:rPr lang="fr-FR" dirty="0"/>
              <a:t>Dépôt distant : envoie avec git push</a:t>
            </a:r>
          </a:p>
          <a:p>
            <a:pPr marL="0" indent="0">
              <a:buNone/>
            </a:pPr>
            <a:r>
              <a:rPr lang="fr-FR" dirty="0" smtClean="0"/>
              <a:t> </a:t>
            </a:r>
          </a:p>
          <a:p>
            <a:pPr marL="0" indent="0">
              <a:buNone/>
            </a:pPr>
            <a:r>
              <a:rPr lang="fr-FR" sz="2000" i="1" dirty="0" smtClean="0">
                <a:latin typeface="Algerian" panose="04020705040A02060702" pitchFamily="82" charset="0"/>
              </a:rPr>
              <a:t>Lien avec GITHUB page</a:t>
            </a:r>
          </a:p>
          <a:p>
            <a:pPr marL="0" indent="0">
              <a:buNone/>
            </a:pPr>
            <a:endParaRPr lang="fr-FR" sz="2000" i="1" dirty="0">
              <a:latin typeface="Algerian" panose="04020705040A02060702" pitchFamily="82" charset="0"/>
            </a:endParaRPr>
          </a:p>
        </p:txBody>
      </p:sp>
      <p:sp>
        <p:nvSpPr>
          <p:cNvPr id="5" name="Ellipse 4">
            <a:hlinkClick r:id="rId2"/>
          </p:cNvPr>
          <p:cNvSpPr/>
          <p:nvPr/>
        </p:nvSpPr>
        <p:spPr>
          <a:xfrm>
            <a:off x="6991927" y="4479636"/>
            <a:ext cx="2558473" cy="96058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smtClean="0"/>
              <a:t>Lien GitHub </a:t>
            </a:r>
            <a:endParaRPr lang="fr-FR" dirty="0"/>
          </a:p>
        </p:txBody>
      </p:sp>
    </p:spTree>
    <p:extLst>
      <p:ext uri="{BB962C8B-B14F-4D97-AF65-F5344CB8AC3E}">
        <p14:creationId xmlns:p14="http://schemas.microsoft.com/office/powerpoint/2010/main" val="3848147887"/>
      </p:ext>
    </p:extLst>
  </p:cSld>
  <p:clrMapOvr>
    <a:masterClrMapping/>
  </p:clrMapOvr>
  <p:transition>
    <p:wheel spokes="1"/>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Difficulté rencontre et solution</a:t>
            </a:r>
            <a:endParaRPr lang="fr-FR" dirty="0"/>
          </a:p>
        </p:txBody>
      </p:sp>
      <p:sp>
        <p:nvSpPr>
          <p:cNvPr id="3" name="Espace réservé du contenu 2"/>
          <p:cNvSpPr>
            <a:spLocks noGrp="1"/>
          </p:cNvSpPr>
          <p:nvPr>
            <p:ph idx="1"/>
          </p:nvPr>
        </p:nvSpPr>
        <p:spPr/>
        <p:txBody>
          <a:bodyPr/>
          <a:lstStyle/>
          <a:p>
            <a:r>
              <a:rPr lang="fr-FR" dirty="0"/>
              <a:t>Gestion du responsive</a:t>
            </a:r>
          </a:p>
          <a:p>
            <a:pPr marL="0" indent="0">
              <a:buNone/>
            </a:pPr>
            <a:r>
              <a:rPr lang="fr-FR" dirty="0"/>
              <a:t>Le menu de navigation et les cartes des freelances se </a:t>
            </a:r>
            <a:r>
              <a:rPr lang="fr-FR" dirty="0" err="1"/>
              <a:t>deformaient</a:t>
            </a:r>
            <a:r>
              <a:rPr lang="fr-FR" dirty="0"/>
              <a:t> ou dépassaient l’écran sur les petits appareils.</a:t>
            </a:r>
          </a:p>
          <a:p>
            <a:pPr marL="0" indent="0">
              <a:buNone/>
            </a:pPr>
            <a:r>
              <a:rPr lang="fr-FR" dirty="0"/>
              <a:t>Jai du utilise les medias queries pour réorganiser les éléments verticalement et ajuster la taille des textes sur mobile</a:t>
            </a:r>
          </a:p>
          <a:p>
            <a:r>
              <a:rPr lang="fr-FR" dirty="0"/>
              <a:t>Organisation des dossiers</a:t>
            </a:r>
          </a:p>
          <a:p>
            <a:pPr marL="0" indent="0">
              <a:buNone/>
            </a:pPr>
            <a:r>
              <a:rPr lang="fr-FR" dirty="0"/>
              <a:t>j’avais mis un mauvais chemin pour le script java du coup rien ne marcher par la suite j’ai vu que j’avais créer le dossier java dans le dossier de </a:t>
            </a:r>
            <a:r>
              <a:rPr lang="fr-FR" dirty="0" err="1"/>
              <a:t>css.j’ai</a:t>
            </a:r>
            <a:r>
              <a:rPr lang="fr-FR" dirty="0"/>
              <a:t> fini par mettre le bon chemin</a:t>
            </a:r>
            <a:endParaRPr lang="fr-FR" dirty="0"/>
          </a:p>
        </p:txBody>
      </p:sp>
    </p:spTree>
    <p:extLst>
      <p:ext uri="{BB962C8B-B14F-4D97-AF65-F5344CB8AC3E}">
        <p14:creationId xmlns:p14="http://schemas.microsoft.com/office/powerpoint/2010/main" val="1834730641"/>
      </p:ext>
    </p:extLst>
  </p:cSld>
  <p:clrMapOvr>
    <a:masterClrMapping/>
  </p:clrMapOvr>
  <p:transition>
    <p:wheel spokes="1"/>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Ressource et documentation utilise</a:t>
            </a:r>
            <a:endParaRPr lang="fr-FR" dirty="0"/>
          </a:p>
        </p:txBody>
      </p:sp>
      <p:sp>
        <p:nvSpPr>
          <p:cNvPr id="3" name="Espace réservé du contenu 2"/>
          <p:cNvSpPr>
            <a:spLocks noGrp="1"/>
          </p:cNvSpPr>
          <p:nvPr>
            <p:ph idx="1"/>
          </p:nvPr>
        </p:nvSpPr>
        <p:spPr/>
        <p:txBody>
          <a:bodyPr/>
          <a:lstStyle/>
          <a:p>
            <a:r>
              <a:rPr lang="fr-FR" dirty="0"/>
              <a:t>MDN WEB DOCS : documentation principale pour la sémantique html et les propriétés css</a:t>
            </a:r>
          </a:p>
          <a:p>
            <a:r>
              <a:rPr lang="fr-FR" dirty="0"/>
              <a:t>Google fonts &amp; icones : intégration de la police géométrique poppins pour l’identité visuel. Utilisation de la bibliothèque d’icones pour les menus et élément graphique</a:t>
            </a:r>
          </a:p>
          <a:p>
            <a:r>
              <a:rPr lang="fr-FR" dirty="0"/>
              <a:t>Documentation git et GitHub:  atelier GitHub de Robert</a:t>
            </a:r>
          </a:p>
          <a:p>
            <a:r>
              <a:rPr lang="fr-FR" dirty="0"/>
              <a:t>Tutos </a:t>
            </a:r>
            <a:endParaRPr lang="fr-FR" dirty="0"/>
          </a:p>
        </p:txBody>
      </p:sp>
    </p:spTree>
    <p:extLst>
      <p:ext uri="{BB962C8B-B14F-4D97-AF65-F5344CB8AC3E}">
        <p14:creationId xmlns:p14="http://schemas.microsoft.com/office/powerpoint/2010/main" val="752280602"/>
      </p:ext>
    </p:extLst>
  </p:cSld>
  <p:clrMapOvr>
    <a:masterClrMapping/>
  </p:clrMapOvr>
  <p:transition>
    <p:wheel spokes="1"/>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i="1" dirty="0">
                <a:latin typeface="Algerian" panose="04020705040A02060702" pitchFamily="82" charset="0"/>
              </a:rPr>
              <a:t>Démonstration live du site</a:t>
            </a:r>
            <a:endParaRPr lang="fr-FR" dirty="0"/>
          </a:p>
        </p:txBody>
      </p:sp>
      <p:sp>
        <p:nvSpPr>
          <p:cNvPr id="3" name="Espace réservé du contenu 2"/>
          <p:cNvSpPr>
            <a:spLocks noGrp="1"/>
          </p:cNvSpPr>
          <p:nvPr>
            <p:ph idx="1"/>
          </p:nvPr>
        </p:nvSpPr>
        <p:spPr/>
        <p:txBody>
          <a:bodyPr/>
          <a:lstStyle/>
          <a:p>
            <a:endParaRPr lang="fr-FR" dirty="0"/>
          </a:p>
        </p:txBody>
      </p:sp>
      <p:sp>
        <p:nvSpPr>
          <p:cNvPr id="4" name="Ellipse 3">
            <a:hlinkClick r:id="rId2"/>
          </p:cNvPr>
          <p:cNvSpPr/>
          <p:nvPr/>
        </p:nvSpPr>
        <p:spPr>
          <a:xfrm>
            <a:off x="2281382" y="3352800"/>
            <a:ext cx="2364509" cy="134850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smtClean="0"/>
              <a:t>Lien </a:t>
            </a:r>
            <a:r>
              <a:rPr lang="fr-FR" dirty="0" err="1" smtClean="0"/>
              <a:t>AfriTalent</a:t>
            </a:r>
            <a:endParaRPr lang="fr-FR" dirty="0"/>
          </a:p>
        </p:txBody>
      </p:sp>
    </p:spTree>
    <p:extLst>
      <p:ext uri="{BB962C8B-B14F-4D97-AF65-F5344CB8AC3E}">
        <p14:creationId xmlns:p14="http://schemas.microsoft.com/office/powerpoint/2010/main" val="3081743337"/>
      </p:ext>
    </p:extLst>
  </p:cSld>
  <p:clrMapOvr>
    <a:masterClrMapping/>
  </p:clrMapOvr>
  <p:transition>
    <p:wheel spokes="1"/>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sz="3200" b="1" i="1" dirty="0">
                <a:latin typeface="Algerian" panose="04020705040A02060702" pitchFamily="82" charset="0"/>
              </a:rPr>
              <a:t>Conclusion et perspective à améliorer</a:t>
            </a:r>
            <a:endParaRPr lang="fr-FR" sz="3200" dirty="0"/>
          </a:p>
        </p:txBody>
      </p:sp>
      <p:sp>
        <p:nvSpPr>
          <p:cNvPr id="3" name="Espace réservé du contenu 2"/>
          <p:cNvSpPr>
            <a:spLocks noGrp="1"/>
          </p:cNvSpPr>
          <p:nvPr>
            <p:ph idx="1"/>
          </p:nvPr>
        </p:nvSpPr>
        <p:spPr/>
        <p:txBody>
          <a:bodyPr/>
          <a:lstStyle/>
          <a:p>
            <a:pPr>
              <a:buFont typeface="Wingdings" panose="05000000000000000000" pitchFamily="2" charset="2"/>
              <a:buChar char="Ø"/>
            </a:pPr>
            <a:r>
              <a:rPr lang="fr-FR" dirty="0"/>
              <a:t>Conclusion</a:t>
            </a:r>
          </a:p>
          <a:p>
            <a:pPr marL="0" indent="0">
              <a:buNone/>
            </a:pPr>
            <a:r>
              <a:rPr lang="fr-FR" dirty="0"/>
              <a:t>Objectifs atteints: création d ’une plateforme moderne, responsive et fluide pour les freelances africains</a:t>
            </a:r>
          </a:p>
          <a:p>
            <a:pPr marL="0" indent="0">
              <a:buNone/>
            </a:pPr>
            <a:r>
              <a:rPr lang="fr-FR" dirty="0"/>
              <a:t>Compétences acquises: maitrise du git, intégration du js dynamique(Dark mode , Storage local)</a:t>
            </a:r>
          </a:p>
          <a:p>
            <a:r>
              <a:rPr lang="fr-FR" dirty="0"/>
              <a:t>Perspectives à améliorer</a:t>
            </a:r>
          </a:p>
          <a:p>
            <a:pPr marL="0" indent="0">
              <a:buNone/>
            </a:pPr>
            <a:r>
              <a:rPr lang="fr-FR" dirty="0"/>
              <a:t>Ajouter d’autre page pour les inscriptions et connexions</a:t>
            </a:r>
          </a:p>
          <a:p>
            <a:pPr marL="0" indent="0">
              <a:buNone/>
            </a:pPr>
            <a:r>
              <a:rPr lang="fr-FR" dirty="0"/>
              <a:t>Plus travailler sur le java</a:t>
            </a:r>
          </a:p>
        </p:txBody>
      </p:sp>
    </p:spTree>
    <p:extLst>
      <p:ext uri="{BB962C8B-B14F-4D97-AF65-F5344CB8AC3E}">
        <p14:creationId xmlns:p14="http://schemas.microsoft.com/office/powerpoint/2010/main" val="4034445027"/>
      </p:ext>
    </p:extLst>
  </p:cSld>
  <p:clrMapOvr>
    <a:masterClrMapping/>
  </p:clrMapOvr>
  <p:transition>
    <p:wheel spokes="1"/>
  </p:transition>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Direction Ion">
  <a:themeElements>
    <a:clrScheme name="Direction Ion">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Direction 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irection 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docProps/app.xml><?xml version="1.0" encoding="utf-8"?>
<Properties xmlns="http://schemas.openxmlformats.org/officeDocument/2006/extended-properties" xmlns:vt="http://schemas.openxmlformats.org/officeDocument/2006/docPropsVTypes">
  <Template>Ion Boardroom</Template>
  <TotalTime>101</TotalTime>
  <Words>638</Words>
  <Application>Microsoft Office PowerPoint</Application>
  <PresentationFormat>Grand écran</PresentationFormat>
  <Paragraphs>87</Paragraphs>
  <Slides>14</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14</vt:i4>
      </vt:variant>
    </vt:vector>
  </HeadingPairs>
  <TitlesOfParts>
    <vt:vector size="20" baseType="lpstr">
      <vt:lpstr>Algerian</vt:lpstr>
      <vt:lpstr>Arial</vt:lpstr>
      <vt:lpstr>Century Gothic</vt:lpstr>
      <vt:lpstr>Wingdings</vt:lpstr>
      <vt:lpstr>Wingdings 3</vt:lpstr>
      <vt:lpstr>Direction Ion</vt:lpstr>
      <vt:lpstr>AfriTalent</vt:lpstr>
      <vt:lpstr>Sommaire</vt:lpstr>
      <vt:lpstr>Présentation du projet</vt:lpstr>
      <vt:lpstr>CHOIX DE DESIGN</vt:lpstr>
      <vt:lpstr>Architecture </vt:lpstr>
      <vt:lpstr>Capture d’écran des pages</vt:lpstr>
      <vt:lpstr>Point technique java</vt:lpstr>
      <vt:lpstr>Point technique bootstrap et css</vt:lpstr>
      <vt:lpstr>Historique GitHub</vt:lpstr>
      <vt:lpstr>Workflow git et lien GitHub page</vt:lpstr>
      <vt:lpstr>Difficulté rencontre et solution</vt:lpstr>
      <vt:lpstr>Ressource et documentation utilise</vt:lpstr>
      <vt:lpstr>Démonstration live du site</vt:lpstr>
      <vt:lpstr>Conclusion et perspective à améliorer</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AfriTalent</dc:title>
  <dc:creator>Compte Microsoft</dc:creator>
  <cp:lastModifiedBy>Compte Microsoft</cp:lastModifiedBy>
  <cp:revision>10</cp:revision>
  <dcterms:created xsi:type="dcterms:W3CDTF">2026-06-21T21:22:53Z</dcterms:created>
  <dcterms:modified xsi:type="dcterms:W3CDTF">2026-06-21T23:04:07Z</dcterms:modified>
</cp:coreProperties>
</file>